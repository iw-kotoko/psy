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0"/>
  </p:notesMasterIdLst>
  <p:sldIdLst>
    <p:sldId id="256" r:id="rId2"/>
    <p:sldId id="288" r:id="rId3"/>
    <p:sldId id="257" r:id="rId4"/>
    <p:sldId id="274" r:id="rId5"/>
    <p:sldId id="289" r:id="rId6"/>
    <p:sldId id="258" r:id="rId7"/>
    <p:sldId id="275" r:id="rId8"/>
    <p:sldId id="276" r:id="rId9"/>
    <p:sldId id="277" r:id="rId10"/>
    <p:sldId id="290" r:id="rId11"/>
    <p:sldId id="313" r:id="rId12"/>
    <p:sldId id="278" r:id="rId13"/>
    <p:sldId id="279" r:id="rId14"/>
    <p:sldId id="260" r:id="rId15"/>
    <p:sldId id="262" r:id="rId16"/>
    <p:sldId id="291" r:id="rId17"/>
    <p:sldId id="259" r:id="rId18"/>
    <p:sldId id="282" r:id="rId19"/>
    <p:sldId id="284" r:id="rId20"/>
    <p:sldId id="285" r:id="rId21"/>
    <p:sldId id="286" r:id="rId22"/>
    <p:sldId id="287" r:id="rId23"/>
    <p:sldId id="292" r:id="rId24"/>
    <p:sldId id="283" r:id="rId25"/>
    <p:sldId id="293" r:id="rId26"/>
    <p:sldId id="314" r:id="rId27"/>
    <p:sldId id="264" r:id="rId28"/>
    <p:sldId id="261" r:id="rId2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3826" autoAdjust="0"/>
  </p:normalViewPr>
  <p:slideViewPr>
    <p:cSldViewPr snapToGrid="0">
      <p:cViewPr varScale="1">
        <p:scale>
          <a:sx n="63" d="100"/>
          <a:sy n="63" d="100"/>
        </p:scale>
        <p:origin x="764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E4A0643-FC1C-4545-85FF-BAFDBEB6D42C}" type="datetimeFigureOut">
              <a:rPr lang="zh-CN" altLang="en-US" smtClean="0"/>
              <a:t>2020/5/17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85C8682-1615-4385-9782-B9ECD24E216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The internal requirements is given above. In general, our module get position data from web page/client and integrate them with </a:t>
            </a:r>
            <a:r>
              <a:rPr lang="en-US" altLang="zh-CN" dirty="0" err="1"/>
              <a:t>BaiduMap</a:t>
            </a:r>
            <a:r>
              <a:rPr lang="en-US" altLang="zh-CN" dirty="0"/>
              <a:t> API to show on web page/client.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5C8682-1615-4385-9782-B9ECD24E2164}" type="slidenum">
              <a:rPr lang="zh-CN" altLang="en-US" smtClean="0"/>
              <a:t>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5C8682-1615-4385-9782-B9ECD24E2164}" type="slidenum">
              <a:rPr lang="zh-CN" altLang="en-US" smtClean="0"/>
              <a:t>20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We have tested the code </a:t>
            </a:r>
            <a:r>
              <a:rPr lang="pt-PT" altLang="zh-CN" dirty="0"/>
              <a:t>several times wtih different parameters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5C8682-1615-4385-9782-B9ECD24E2164}" type="slidenum">
              <a:rPr lang="zh-CN" altLang="en-US" smtClean="0"/>
              <a:t>22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r>
              <a:rPr lang="en-US" altLang="zh-CN" dirty="0"/>
              <a:t>There are many interesting icons online, and some may be more interesting than the icon we use  at present.</a:t>
            </a:r>
          </a:p>
          <a:p>
            <a:pPr marL="228600" indent="-228600">
              <a:buAutoNum type="arabicPeriod"/>
            </a:pPr>
            <a:r>
              <a:rPr lang="en-US" altLang="zh-CN" dirty="0"/>
              <a:t>Given that the GPS coordinate of reference points is provided, we could show the coordinate above the icons. However, since texts may cover the map, this adaptation needs more discussion.</a:t>
            </a:r>
          </a:p>
          <a:p>
            <a:pPr marL="228600" indent="-228600">
              <a:buAutoNum type="arabicPeriod"/>
            </a:pPr>
            <a:r>
              <a:rPr lang="en-US" altLang="zh-CN" dirty="0"/>
              <a:t>The track consists of many lines. A more colorful track may be more user-friendly. 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5C8682-1615-4385-9782-B9ECD24E2164}" type="slidenum">
              <a:rPr lang="zh-CN" altLang="en-US" smtClean="0"/>
              <a:t>27</a:t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6934" y="0"/>
            <a:ext cx="12231160" cy="6856214"/>
            <a:chOff x="-16934" y="0"/>
            <a:chExt cx="12231160" cy="6856214"/>
          </a:xfrm>
        </p:grpSpPr>
        <p:pic>
          <p:nvPicPr>
            <p:cNvPr id="16" name="Picture 15" descr="HD-PanelTitle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20" name="Picture 19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D997B5FA-0921-464F-AAE1-844C04324D75}" type="datetimeFigureOut">
              <a:rPr lang="zh-CN" altLang="en-US" smtClean="0"/>
              <a:t>2020/5/17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2020/5/17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2020/5/17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2020/5/17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0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0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2020/5/17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2020/5/17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2020/5/17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2020/5/17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2020/5/17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带描述的全景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2020/5/17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和描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2020/5/17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带描述的引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2020/5/17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2020/5/17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引言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2020/5/17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真或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20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2020/5/17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2020/5/17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2020/5/17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8" name="Picture 7" descr="H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D997B5FA-0921-464F-AAE1-844C04324D75}" type="datetimeFigureOut">
              <a:rPr lang="zh-CN" altLang="en-US" smtClean="0"/>
              <a:t>2020/5/17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 panose="020B0604020202020204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 panose="020B0604020202020204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 panose="020B0604020202020204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 panose="020B0604020202020204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 panose="020B0604020202020204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 panose="020B0604020202020204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 panose="020B0604020202020204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 panose="020B0604020202020204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 panose="020B0604020202020204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file:///F:\&#23398;&#20064;\&#22823;&#19977;\&#22823;&#19977;&#19979;\&#20998;&#24067;&#24335;&#36719;&#20214;&#24320;&#21457;\5.10\js.mp4" TargetMode="External"/><Relationship Id="rId1" Type="http://schemas.microsoft.com/office/2007/relationships/media" Target="file:///F:\&#23398;&#20064;\&#22823;&#19977;\&#22823;&#19977;&#19979;\&#20998;&#24067;&#24335;&#36719;&#20214;&#24320;&#21457;\5.10\js.mp4" TargetMode="External"/><Relationship Id="rId4" Type="http://schemas.openxmlformats.org/officeDocument/2006/relationships/image" Target="../media/image1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file:///F:\&#23398;&#20064;\&#22823;&#19977;\&#22823;&#19977;&#19979;\&#20998;&#24067;&#24335;&#36719;&#20214;&#24320;&#21457;\5.10\android.mp4" TargetMode="External"/><Relationship Id="rId1" Type="http://schemas.microsoft.com/office/2007/relationships/media" Target="file:///F:\&#23398;&#20064;\&#22823;&#19977;\&#22823;&#19977;&#19979;\&#20998;&#24067;&#24335;&#36719;&#20214;&#24320;&#21457;\5.10\android.mp4" TargetMode="External"/><Relationship Id="rId4" Type="http://schemas.openxmlformats.org/officeDocument/2006/relationships/image" Target="../media/image14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Map Module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CN" dirty="0"/>
              <a:t>Joy Division</a:t>
            </a:r>
            <a:endParaRPr lang="zh-CN" alt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Requirement Analysis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 err="1"/>
              <a:t>Wenzhi</a:t>
            </a:r>
            <a:r>
              <a:rPr lang="en-US" altLang="zh-CN" dirty="0"/>
              <a:t> Li</a:t>
            </a:r>
            <a:endParaRPr lang="zh-CN" alt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Internal Requirements</a:t>
            </a:r>
            <a:endParaRPr lang="zh-CN" altLang="en-US" dirty="0"/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95983" y="2557463"/>
            <a:ext cx="7800034" cy="3317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>
                <a:sym typeface="+mn-ea"/>
              </a:rPr>
              <a:t>Aims of the Module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fontAlgn="base"/>
            <a:r>
              <a:rPr lang="en-US" altLang="zh-CN" dirty="0">
                <a:sym typeface="+mn-ea"/>
              </a:rPr>
              <a:t>Get map picture and coordinates of points to be shown.</a:t>
            </a:r>
            <a:endParaRPr lang="en-US" altLang="zh-CN" dirty="0"/>
          </a:p>
          <a:p>
            <a:pPr fontAlgn="base"/>
            <a:r>
              <a:rPr lang="en-US" altLang="zh-CN" dirty="0">
                <a:sym typeface="+mn-ea"/>
              </a:rPr>
              <a:t>Add the picture as a layer onto the API, and mark out users position/track.</a:t>
            </a:r>
            <a:endParaRPr lang="en-US" altLang="zh-CN" dirty="0"/>
          </a:p>
          <a:p>
            <a:pPr fontAlgn="base"/>
            <a:r>
              <a:rPr lang="en-US" altLang="zh-CN" dirty="0">
                <a:sym typeface="+mn-ea"/>
              </a:rPr>
              <a:t>Provide integrated map to client/web page.</a:t>
            </a:r>
            <a:endParaRPr lang="en-US" altLang="zh-CN" dirty="0"/>
          </a:p>
          <a:p>
            <a:endParaRPr lang="zh-CN" alt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System Design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 err="1"/>
              <a:t>Yuming</a:t>
            </a:r>
            <a:r>
              <a:rPr lang="en-US" altLang="zh-CN" dirty="0"/>
              <a:t> Feng</a:t>
            </a:r>
            <a:endParaRPr lang="zh-CN" alt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Workflow</a:t>
            </a:r>
            <a:endParaRPr lang="zh-CN" altLang="en-US" dirty="0"/>
          </a:p>
        </p:txBody>
      </p:sp>
      <p:pic>
        <p:nvPicPr>
          <p:cNvPr id="205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67990" y="2572385"/>
            <a:ext cx="6237605" cy="35471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 descr="https://qqadapt.qpic.cn/txdocpic/0/9779698684a6e1046d295d0eb364ca5f/0?w=610&amp;h=618"/>
          <p:cNvPicPr>
            <a:picLocks noGrp="1" noChangeAspect="1" noChangeArrowheads="1"/>
          </p:cNvPicPr>
          <p:nvPr>
            <p:ph idx="429496729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7445" y="680720"/>
            <a:ext cx="9592945" cy="55067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 descr="https://qqadapt.qpic.cn/txdocpic/0/9cf0bcf939e5c15145b169865ba1b01d/0?w=324&amp;h=350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64535" y="644525"/>
            <a:ext cx="5346065" cy="55416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表格 4"/>
          <p:cNvGraphicFramePr>
            <a:graphicFrameLocks noGrp="1"/>
          </p:cNvGraphicFramePr>
          <p:nvPr/>
        </p:nvGraphicFramePr>
        <p:xfrm>
          <a:off x="1518285" y="662305"/>
          <a:ext cx="9155430" cy="54489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59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259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3921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1259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2280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2900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93395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1400" b="1" i="0" spc="0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</a:rPr>
                        <a:t>Access</a:t>
                      </a:r>
                      <a:endParaRPr lang="en-US" sz="1400" dirty="0">
                        <a:effectLst/>
                      </a:endParaRPr>
                    </a:p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1400" b="1" i="0" spc="0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</a:rPr>
                        <a:t>Method</a:t>
                      </a:r>
                      <a:endParaRPr lang="en-US" sz="1400" dirty="0">
                        <a:effectLst/>
                      </a:endParaRPr>
                    </a:p>
                  </a:txBody>
                  <a:tcPr marL="38100" marR="38100" marT="38100" marB="28575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1400" b="1" i="0" spc="0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</a:rPr>
                        <a:t>Parameter name</a:t>
                      </a:r>
                      <a:endParaRPr lang="en-US" sz="1400" dirty="0">
                        <a:effectLst/>
                      </a:endParaRPr>
                    </a:p>
                  </a:txBody>
                  <a:tcPr marL="38100" marR="38100" marT="38100" marB="28575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1400" b="1" i="0" spc="0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</a:rPr>
                        <a:t>Parameter</a:t>
                      </a:r>
                      <a:endParaRPr lang="en-US" sz="1400" dirty="0">
                        <a:effectLst/>
                      </a:endParaRPr>
                    </a:p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1400" b="1" i="0" spc="0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</a:rPr>
                        <a:t>type</a:t>
                      </a:r>
                      <a:endParaRPr lang="en-US" sz="1400" dirty="0">
                        <a:effectLst/>
                      </a:endParaRPr>
                    </a:p>
                  </a:txBody>
                  <a:tcPr marL="38100" marR="38100" marT="38100" marB="28575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1400" b="1" i="0" spc="0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</a:rPr>
                        <a:t>Description</a:t>
                      </a:r>
                      <a:endParaRPr lang="en-US" sz="1400" dirty="0">
                        <a:effectLst/>
                      </a:endParaRPr>
                    </a:p>
                  </a:txBody>
                  <a:tcPr marL="38100" marR="38100" marT="38100" marB="28575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1400" b="1" i="0" spc="0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</a:rPr>
                        <a:t>Exceptions</a:t>
                      </a:r>
                      <a:endParaRPr lang="en-US" sz="1400" dirty="0">
                        <a:effectLst/>
                      </a:endParaRPr>
                    </a:p>
                  </a:txBody>
                  <a:tcPr marL="38100" marR="38100" marT="38100" marB="28575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1400" b="1" i="0" spc="0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</a:rPr>
                        <a:t>Map to services</a:t>
                      </a:r>
                      <a:endParaRPr lang="en-US" sz="1400" dirty="0">
                        <a:effectLst/>
                      </a:endParaRPr>
                    </a:p>
                  </a:txBody>
                  <a:tcPr marL="38100" marR="38100" marT="38100" marB="28575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8318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1400" b="0" i="0" spc="0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showPosition</a:t>
                      </a:r>
                    </a:p>
                  </a:txBody>
                  <a:tcPr marL="38100" marR="38100" marT="38100" marB="28575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1400" b="0" i="0" spc="0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mapid、UserPosition、graphCenter</a:t>
                      </a:r>
                    </a:p>
                  </a:txBody>
                  <a:tcPr marL="38100" marR="38100" marT="38100" marB="28575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1400" b="0" i="0" spc="0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int、Point、Point</a:t>
                      </a:r>
                    </a:p>
                  </a:txBody>
                  <a:tcPr marL="38100" marR="38100" marT="38100" marB="28575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1400" b="0" i="0" spc="0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mapid</a:t>
                      </a:r>
                      <a:r>
                        <a:rPr lang="en-US" sz="1400" b="0" i="0" spc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is the id of the map(jpg/</a:t>
                      </a:r>
                      <a:r>
                        <a:rPr lang="en-US" sz="1400" b="0" i="0" spc="0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png</a:t>
                      </a:r>
                      <a:r>
                        <a:rPr lang="en-US" sz="1400" b="0" i="0" spc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picture)</a:t>
                      </a:r>
                      <a:endParaRPr lang="en-US" sz="14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1400" b="0" i="0" spc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and the </a:t>
                      </a:r>
                      <a:r>
                        <a:rPr lang="en-US" sz="1400" b="0" i="0" spc="0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UserPosition</a:t>
                      </a:r>
                      <a:r>
                        <a:rPr lang="en-US" sz="1400" b="0" i="0" spc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is the GPS position(the id of the </a:t>
                      </a:r>
                      <a:r>
                        <a:rPr lang="en-US" sz="1400" b="0" i="0" spc="0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gps</a:t>
                      </a:r>
                      <a:r>
                        <a:rPr lang="en-US" sz="1400" b="0" i="0" spc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).</a:t>
                      </a:r>
                      <a:endParaRPr lang="en-US" sz="14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1400" b="0" i="0" spc="0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graphCenter</a:t>
                      </a:r>
                      <a:r>
                        <a:rPr lang="en-US" sz="1400" b="0" i="0" spc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is the GPS </a:t>
                      </a:r>
                      <a:r>
                        <a:rPr lang="en-US" sz="1400" b="0" i="0" spc="0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coordinary</a:t>
                      </a:r>
                      <a:r>
                        <a:rPr lang="en-US" sz="1400" b="0" i="0" spc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of the map.</a:t>
                      </a:r>
                      <a:endParaRPr lang="en-US" sz="14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8100" marR="38100" marT="38100" marB="28575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1400" b="0" i="0" spc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If the coordinates of the point exceed the range of the picture, an error</a:t>
                      </a:r>
                      <a:endParaRPr lang="en-US" sz="14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1400" b="0" i="0" spc="0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PointOutOfBoundaryException</a:t>
                      </a:r>
                      <a:r>
                        <a:rPr lang="en-US" sz="1400" b="0" i="0" spc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is reported.</a:t>
                      </a:r>
                      <a:endParaRPr lang="en-US" sz="14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8100" marR="38100" marT="38100" marB="28575" anchor="ctr"/>
                </a:tc>
                <a:tc>
                  <a:txBody>
                    <a:bodyPr/>
                    <a:lstStyle/>
                    <a:p>
                      <a:r>
                        <a:rPr lang="en-US" altLang="zh-C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7236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1400" b="0" i="0" spc="0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showTrace</a:t>
                      </a:r>
                    </a:p>
                  </a:txBody>
                  <a:tcPr marL="38100" marR="38100" marT="38100" marB="28575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1400" b="0" i="0" spc="0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mapid,UserTracks</a:t>
                      </a:r>
                      <a:r>
                        <a:rPr lang="en-US" sz="1400" b="0" i="0" spc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US" sz="1400" b="0" i="0" spc="0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graphCenter</a:t>
                      </a:r>
                      <a:endParaRPr lang="en-US" sz="14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8100" marR="38100" marT="38100" marB="28575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1400" b="0" i="0" spc="0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int、array</a:t>
                      </a:r>
                      <a:r>
                        <a:rPr lang="en-US" sz="1400" b="0" i="0" spc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of </a:t>
                      </a:r>
                      <a:r>
                        <a:rPr lang="en-US" sz="1400" b="0" i="0" spc="0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points、Point</a:t>
                      </a:r>
                      <a:endParaRPr lang="en-US" sz="14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8100" marR="38100" marT="38100" marB="28575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1400" b="0" i="0" spc="0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pointlist</a:t>
                      </a:r>
                      <a:r>
                        <a:rPr lang="en-US" sz="1400" b="0" i="0" spc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is an</a:t>
                      </a:r>
                      <a:endParaRPr lang="en-US" sz="14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1400" b="0" i="0" spc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array of GPS </a:t>
                      </a:r>
                      <a:r>
                        <a:rPr lang="en-US" sz="1400" b="0" i="0" spc="0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coordinaries</a:t>
                      </a:r>
                      <a:r>
                        <a:rPr lang="en-US" sz="1400" b="0" i="0" spc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to describe the trace of the user.</a:t>
                      </a:r>
                      <a:endParaRPr lang="en-US" sz="14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8100" marR="38100" marT="38100" marB="28575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1400" b="0" i="0" spc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If the coordinates of the point exceed the range of the picture, an error</a:t>
                      </a:r>
                      <a:endParaRPr lang="en-US" sz="14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1400" b="0" i="0" spc="0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PointOutOfBoundaryException</a:t>
                      </a:r>
                      <a:r>
                        <a:rPr lang="en-US" sz="1400" b="0" i="0" spc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is reported. If the list of points is empty, an error</a:t>
                      </a:r>
                      <a:endParaRPr lang="en-US" sz="14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l">
                        <a:lnSpc>
                          <a:spcPct val="100000"/>
                        </a:lnSpc>
                      </a:pPr>
                      <a:r>
                        <a:rPr lang="en-US" sz="1400" b="0" i="0" spc="0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PointNotFoundException</a:t>
                      </a:r>
                      <a:r>
                        <a:rPr lang="en-US" sz="1400" b="0" i="0" spc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is reported.</a:t>
                      </a:r>
                      <a:endParaRPr lang="en-US" sz="14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8100" marR="38100" marT="38100" marB="28575" anchor="ctr"/>
                </a:tc>
                <a:tc>
                  <a:txBody>
                    <a:bodyPr/>
                    <a:lstStyle/>
                    <a:p>
                      <a:r>
                        <a:rPr lang="en-US" altLang="zh-C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Coding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 err="1"/>
              <a:t>Haochen</a:t>
            </a:r>
            <a:r>
              <a:rPr lang="en-US" altLang="zh-CN" dirty="0"/>
              <a:t> Liu and João</a:t>
            </a:r>
          </a:p>
          <a:p>
            <a:endParaRPr lang="zh-CN" alt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Implementation</a:t>
            </a:r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>
                <a:sym typeface="+mn-ea"/>
              </a:rPr>
              <a:t>Context</a:t>
            </a:r>
            <a:r>
              <a:rPr lang="zh-CN" altLang="en-US" dirty="0">
                <a:sym typeface="+mn-ea"/>
              </a:rPr>
              <a:t>：</a:t>
            </a:r>
            <a:endParaRPr lang="en-US" altLang="zh-CN" dirty="0"/>
          </a:p>
          <a:p>
            <a:r>
              <a:rPr lang="en-US" altLang="zh-CN" dirty="0">
                <a:sym typeface="+mn-ea"/>
              </a:rPr>
              <a:t>1.tool introduction</a:t>
            </a:r>
            <a:endParaRPr lang="en-US" altLang="zh-CN" dirty="0"/>
          </a:p>
          <a:p>
            <a:r>
              <a:rPr lang="en-US" altLang="zh-CN" dirty="0">
                <a:sym typeface="+mn-ea"/>
              </a:rPr>
              <a:t>2.Achievement (video show)</a:t>
            </a:r>
            <a:endParaRPr lang="en-US" altLang="zh-CN" dirty="0"/>
          </a:p>
          <a:p>
            <a:endParaRPr lang="zh-CN" alt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Tool Introduction——BaiduMap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>
                <a:sym typeface="+mn-ea"/>
              </a:rPr>
              <a:t>Baidu Maps is a desktop and mobile web mapping service application and technology provided by Baidu</a:t>
            </a:r>
            <a:endParaRPr lang="en-US" dirty="0"/>
          </a:p>
          <a:p>
            <a:pPr algn="just"/>
            <a:r>
              <a:rPr lang="en-US" dirty="0">
                <a:sym typeface="+mn-ea"/>
              </a:rPr>
              <a:t>Offering satellite imagery, street maps, street view and indoor view</a:t>
            </a:r>
            <a:endParaRPr lang="en-US" dirty="0"/>
          </a:p>
          <a:p>
            <a:pPr algn="just"/>
            <a:r>
              <a:rPr lang="en-US" dirty="0">
                <a:sym typeface="+mn-ea"/>
              </a:rPr>
              <a:t>Android and iOS applications are available.</a:t>
            </a:r>
            <a:endParaRPr lang="en-US" dirty="0"/>
          </a:p>
          <a:p>
            <a:pPr algn="just"/>
            <a:r>
              <a:rPr lang="en-US" dirty="0">
                <a:sym typeface="+mn-ea"/>
              </a:rPr>
              <a:t>More than 150 countries are  supported</a:t>
            </a:r>
            <a:endParaRPr lang="zh-CN" altLang="en-US"/>
          </a:p>
        </p:txBody>
      </p:sp>
      <p:pic>
        <p:nvPicPr>
          <p:cNvPr id="4098" name="Picture 2" descr="Chinese Internet Giant Baidu to Expand Mapping Services Abroad ...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24570" y="3867785"/>
            <a:ext cx="2345055" cy="23450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BaiduMap API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PT" dirty="0" err="1">
                <a:sym typeface="+mn-ea"/>
              </a:rPr>
              <a:t>This</a:t>
            </a:r>
            <a:r>
              <a:rPr lang="pt-PT" dirty="0">
                <a:sym typeface="+mn-ea"/>
              </a:rPr>
              <a:t> API </a:t>
            </a:r>
            <a:r>
              <a:rPr lang="pt-PT" dirty="0" err="1">
                <a:sym typeface="+mn-ea"/>
              </a:rPr>
              <a:t>is</a:t>
            </a:r>
            <a:r>
              <a:rPr lang="pt-PT" dirty="0">
                <a:sym typeface="+mn-ea"/>
              </a:rPr>
              <a:t> similar to Google </a:t>
            </a:r>
            <a:r>
              <a:rPr lang="pt-PT" dirty="0" err="1">
                <a:sym typeface="+mn-ea"/>
              </a:rPr>
              <a:t>Maps</a:t>
            </a:r>
            <a:r>
              <a:rPr lang="pt-PT" dirty="0">
                <a:sym typeface="+mn-ea"/>
              </a:rPr>
              <a:t> (</a:t>
            </a:r>
            <a:r>
              <a:rPr lang="pt-PT" dirty="0" err="1">
                <a:sym typeface="+mn-ea"/>
              </a:rPr>
              <a:t>easier</a:t>
            </a:r>
            <a:r>
              <a:rPr lang="pt-PT" dirty="0">
                <a:sym typeface="+mn-ea"/>
              </a:rPr>
              <a:t> to </a:t>
            </a:r>
            <a:r>
              <a:rPr lang="pt-PT" dirty="0" err="1">
                <a:sym typeface="+mn-ea"/>
              </a:rPr>
              <a:t>work</a:t>
            </a:r>
            <a:r>
              <a:rPr lang="pt-PT" dirty="0">
                <a:sym typeface="+mn-ea"/>
              </a:rPr>
              <a:t>)</a:t>
            </a:r>
            <a:endParaRPr lang="pt-PT" dirty="0"/>
          </a:p>
          <a:p>
            <a:r>
              <a:rPr lang="en-US" dirty="0">
                <a:sym typeface="+mn-ea"/>
              </a:rPr>
              <a:t>Have the maps of the bigger part of world (include Portugal)</a:t>
            </a:r>
            <a:endParaRPr lang="en-US" dirty="0"/>
          </a:p>
          <a:p>
            <a:r>
              <a:rPr lang="en-US" dirty="0">
                <a:sym typeface="+mn-ea"/>
              </a:rPr>
              <a:t>Can be customized</a:t>
            </a:r>
            <a:endParaRPr lang="en-US" dirty="0"/>
          </a:p>
          <a:p>
            <a:r>
              <a:rPr lang="en-US" dirty="0">
                <a:sym typeface="+mn-ea"/>
              </a:rPr>
              <a:t>Include SDK for Android</a:t>
            </a:r>
            <a:endParaRPr lang="en-US" dirty="0"/>
          </a:p>
          <a:p>
            <a:r>
              <a:rPr lang="en-US" dirty="0">
                <a:sym typeface="+mn-ea"/>
              </a:rPr>
              <a:t>Various guides available</a:t>
            </a:r>
            <a:endParaRPr lang="pt-PT" dirty="0"/>
          </a:p>
          <a:p>
            <a:endParaRPr lang="zh-CN" altLang="en-US"/>
          </a:p>
        </p:txBody>
      </p:sp>
      <p:pic>
        <p:nvPicPr>
          <p:cNvPr id="6" name="Imagem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32850" y="2492375"/>
            <a:ext cx="2550160" cy="369316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idx="4294967295"/>
          </p:nvPr>
        </p:nvSpPr>
        <p:spPr>
          <a:xfrm>
            <a:off x="1295400" y="496570"/>
            <a:ext cx="9601200" cy="1303655"/>
          </a:xfrm>
        </p:spPr>
        <p:txBody>
          <a:bodyPr/>
          <a:lstStyle/>
          <a:p>
            <a:r>
              <a:rPr lang="en-US" altLang="zh-CN" dirty="0"/>
              <a:t>Show</a:t>
            </a:r>
            <a:endParaRPr lang="zh-CN" altLang="en-US" dirty="0"/>
          </a:p>
        </p:txBody>
      </p:sp>
      <p:pic>
        <p:nvPicPr>
          <p:cNvPr id="5" name="js">
            <a:hlinkClick r:id="" action="ppaction://media"/>
          </p:cNvPr>
          <p:cNvPicPr>
            <a:picLocks noGrp="1"/>
          </p:cNvPicPr>
          <p:nvPr>
            <p:ph idx="4294967295"/>
            <a:videoFile r:link="rId2"/>
            <p:extLst>
              <p:ext uri="{DAA4B4D4-6D71-4841-9C94-3DE7FCFB9230}">
                <p14:media xmlns:p14="http://schemas.microsoft.com/office/powerpoint/2010/main" r:link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676910" y="1456690"/>
            <a:ext cx="10838180" cy="490474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>
                <p:cTn id="2" fill="hold" display="1">
                  <p:stCondLst>
                    <p:cond delay="indefinite"/>
                  </p:stCondLst>
                  <p:endCondLst>
                    <p:cond evt="onNext" delay="0">
                      <p:tgtEl>
                        <p:sldTgt/>
                      </p:tgtEl>
                    </p:cond>
                    <p:cond evt="onPrev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video>
            <p:seq concurrent="1" nextAc="seek">
              <p:cTn id="3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" fill="hold">
                      <p:stCondLst>
                        <p:cond delay="0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 additive="base">
                                        <p:cTn id="7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idx="4294967295"/>
          </p:nvPr>
        </p:nvSpPr>
        <p:spPr>
          <a:xfrm>
            <a:off x="1548765" y="610870"/>
            <a:ext cx="9601200" cy="1303655"/>
          </a:xfrm>
        </p:spPr>
        <p:txBody>
          <a:bodyPr/>
          <a:lstStyle/>
          <a:p>
            <a:r>
              <a:rPr lang="en-US" altLang="zh-CN" dirty="0"/>
              <a:t>Show</a:t>
            </a:r>
            <a:endParaRPr lang="zh-CN" altLang="en-US" dirty="0"/>
          </a:p>
        </p:txBody>
      </p:sp>
      <p:pic>
        <p:nvPicPr>
          <p:cNvPr id="5" name="android">
            <a:hlinkClick r:id="" action="ppaction://media"/>
          </p:cNvPr>
          <p:cNvPicPr>
            <a:picLocks noGrp="1"/>
          </p:cNvPicPr>
          <p:nvPr>
            <p:ph idx="4294967295"/>
            <a:videoFile r:link="rId2"/>
            <p:extLst>
              <p:ext uri="{DAA4B4D4-6D71-4841-9C94-3DE7FCFB9230}">
                <p14:media xmlns:p14="http://schemas.microsoft.com/office/powerpoint/2010/main" r:link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793750" y="1595755"/>
            <a:ext cx="10624820" cy="463359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>
                <p:cTn id="2" fill="hold" display="1">
                  <p:stCondLst>
                    <p:cond delay="indefinite"/>
                  </p:stCondLst>
                  <p:endCondLst>
                    <p:cond evt="onNext" delay="0">
                      <p:tgtEl>
                        <p:sldTgt/>
                      </p:tgtEl>
                    </p:cond>
                    <p:cond evt="onPrev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video>
            <p:seq concurrent="1" nextAc="seek">
              <p:cTn id="3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" fill="hold">
                      <p:stCondLst>
                        <p:cond delay="0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 additive="base">
                                        <p:cTn id="7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Testing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 err="1"/>
              <a:t>Tianke</a:t>
            </a:r>
            <a:r>
              <a:rPr lang="en-US" altLang="zh-CN" dirty="0"/>
              <a:t> Zhang and </a:t>
            </a:r>
            <a:r>
              <a:rPr lang="en-US" altLang="zh-CN" dirty="0" err="1"/>
              <a:t>Inês</a:t>
            </a:r>
            <a:endParaRPr lang="en-US" altLang="zh-CN" dirty="0"/>
          </a:p>
          <a:p>
            <a:endParaRPr lang="zh-CN" altLang="en-US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Test on JavaScript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295400" y="2557145"/>
            <a:ext cx="9601200" cy="4103370"/>
          </a:xfrm>
        </p:spPr>
        <p:txBody>
          <a:bodyPr>
            <a:normAutofit/>
          </a:bodyPr>
          <a:lstStyle/>
          <a:p>
            <a:r>
              <a:rPr lang="zh-CN" altLang="en-US" dirty="0">
                <a:sym typeface="+mn-ea"/>
              </a:rPr>
              <a:t>① </a:t>
            </a:r>
            <a:r>
              <a:rPr lang="en-US" altLang="zh-CN" dirty="0">
                <a:sym typeface="+mn-ea"/>
              </a:rPr>
              <a:t>Point Location</a:t>
            </a:r>
            <a:r>
              <a:rPr lang="zh-CN" altLang="en-US" dirty="0">
                <a:sym typeface="+mn-ea"/>
              </a:rPr>
              <a:t>：</a:t>
            </a:r>
            <a:r>
              <a:rPr lang="en-US" altLang="zh-CN" dirty="0" err="1">
                <a:sym typeface="+mn-ea"/>
              </a:rPr>
              <a:t>opCode</a:t>
            </a:r>
            <a:r>
              <a:rPr lang="en-US" altLang="zh-CN" dirty="0">
                <a:sym typeface="+mn-ea"/>
              </a:rPr>
              <a:t> = 1, </a:t>
            </a:r>
            <a:r>
              <a:rPr lang="en-US" altLang="zh-CN" dirty="0" err="1">
                <a:sym typeface="+mn-ea"/>
              </a:rPr>
              <a:t>mapid</a:t>
            </a:r>
            <a:r>
              <a:rPr lang="en-US" altLang="zh-CN" dirty="0">
                <a:sym typeface="+mn-ea"/>
              </a:rPr>
              <a:t> = 1, center point fixed</a:t>
            </a:r>
            <a:endParaRPr lang="en-US" altLang="zh-CN" dirty="0"/>
          </a:p>
          <a:p>
            <a:r>
              <a:rPr lang="en-US" altLang="zh-CN" dirty="0">
                <a:sym typeface="+mn-ea"/>
              </a:rPr>
              <a:t>    Input</a:t>
            </a:r>
            <a:r>
              <a:rPr lang="zh-CN" altLang="en-US" dirty="0">
                <a:sym typeface="+mn-ea"/>
              </a:rPr>
              <a:t>：</a:t>
            </a:r>
            <a:r>
              <a:rPr lang="en-US" altLang="zh-CN" dirty="0" err="1">
                <a:sym typeface="+mn-ea"/>
              </a:rPr>
              <a:t>longitude&amp;latitude</a:t>
            </a:r>
            <a:r>
              <a:rPr lang="en-US" altLang="zh-CN" dirty="0">
                <a:sym typeface="+mn-ea"/>
              </a:rPr>
              <a:t> of the point</a:t>
            </a:r>
            <a:endParaRPr lang="en-US" altLang="zh-CN" dirty="0"/>
          </a:p>
          <a:p>
            <a:r>
              <a:rPr lang="en-US" altLang="zh-CN" dirty="0">
                <a:sym typeface="+mn-ea"/>
              </a:rPr>
              <a:t>    Use Python program to complete the test for the legend range, and the     punctuation is accurate</a:t>
            </a:r>
            <a:endParaRPr lang="en-US" altLang="zh-CN" dirty="0"/>
          </a:p>
          <a:p>
            <a:r>
              <a:rPr lang="en-US" altLang="zh-CN" dirty="0">
                <a:sym typeface="+mn-ea"/>
              </a:rPr>
              <a:t>    Problem: Other location information under the </a:t>
            </a:r>
          </a:p>
          <a:p>
            <a:r>
              <a:rPr lang="en-US" altLang="zh-CN" dirty="0">
                <a:sym typeface="+mn-ea"/>
              </a:rPr>
              <a:t>original layer may interfere with mouse click.</a:t>
            </a:r>
            <a:endParaRPr lang="en-US" altLang="zh-CN" dirty="0"/>
          </a:p>
          <a:p>
            <a:endParaRPr lang="zh-CN" altLang="en-US" dirty="0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27645" y="4054475"/>
            <a:ext cx="3162300" cy="193675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>
                <a:sym typeface="+mn-ea"/>
              </a:rPr>
              <a:t>Test on JavaScript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295400" y="2557145"/>
            <a:ext cx="9601200" cy="3720465"/>
          </a:xfrm>
        </p:spPr>
        <p:txBody>
          <a:bodyPr>
            <a:normAutofit/>
          </a:bodyPr>
          <a:lstStyle/>
          <a:p>
            <a:r>
              <a:rPr lang="zh-CN" altLang="en-US">
                <a:sym typeface="+mn-ea"/>
              </a:rPr>
              <a:t>② </a:t>
            </a:r>
            <a:r>
              <a:rPr lang="en-US" altLang="zh-CN">
                <a:sym typeface="+mn-ea"/>
              </a:rPr>
              <a:t>Trace Display</a:t>
            </a:r>
            <a:r>
              <a:rPr lang="zh-CN" altLang="en-US">
                <a:sym typeface="+mn-ea"/>
              </a:rPr>
              <a:t>：</a:t>
            </a:r>
            <a:r>
              <a:rPr lang="en-US" altLang="zh-CN">
                <a:sym typeface="+mn-ea"/>
              </a:rPr>
              <a:t>opCode = 2, mapid = 1, center point fixed</a:t>
            </a:r>
            <a:endParaRPr lang="en-US" altLang="zh-CN"/>
          </a:p>
          <a:p>
            <a:r>
              <a:rPr lang="en-US" altLang="zh-CN">
                <a:sym typeface="+mn-ea"/>
              </a:rPr>
              <a:t>    Input</a:t>
            </a:r>
            <a:r>
              <a:rPr lang="zh-CN" altLang="en-US">
                <a:sym typeface="+mn-ea"/>
              </a:rPr>
              <a:t>：</a:t>
            </a:r>
            <a:r>
              <a:rPr lang="en-US" altLang="zh-CN">
                <a:sym typeface="+mn-ea"/>
              </a:rPr>
              <a:t>a list of the location of points ( longitude&amp;latitude)</a:t>
            </a:r>
            <a:endParaRPr lang="en-US" altLang="zh-CN"/>
          </a:p>
          <a:p>
            <a:r>
              <a:rPr lang="en-US" altLang="zh-CN">
                <a:sym typeface="+mn-ea"/>
              </a:rPr>
              <a:t>    Use Python program to complete the test for trace display, and the direction and location are accurate.</a:t>
            </a:r>
          </a:p>
          <a:p>
            <a:r>
              <a:rPr lang="en-US" altLang="zh-CN">
                <a:sym typeface="+mn-ea"/>
              </a:rPr>
              <a:t>    Problem: When the path goes back and forth between</a:t>
            </a:r>
          </a:p>
          <a:p>
            <a:r>
              <a:rPr lang="en-US" altLang="zh-CN">
                <a:sym typeface="+mn-ea"/>
              </a:rPr>
              <a:t> two points, the displayed path is not clear enough and</a:t>
            </a:r>
          </a:p>
          <a:p>
            <a:r>
              <a:rPr lang="en-US" altLang="zh-CN">
                <a:sym typeface="+mn-ea"/>
              </a:rPr>
              <a:t> the order will be confused</a:t>
            </a:r>
            <a:endParaRPr lang="en-US" altLang="zh-CN"/>
          </a:p>
          <a:p>
            <a:endParaRPr lang="en-US" altLang="zh-CN"/>
          </a:p>
          <a:p>
            <a:endParaRPr lang="zh-CN" altLang="en-US"/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23605" y="4036695"/>
            <a:ext cx="2922905" cy="2102485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Test on Android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295401" y="2556931"/>
            <a:ext cx="9601196" cy="3778555"/>
          </a:xfrm>
        </p:spPr>
        <p:txBody>
          <a:bodyPr>
            <a:normAutofit lnSpcReduction="10000"/>
          </a:bodyPr>
          <a:lstStyle/>
          <a:p>
            <a:pPr algn="just"/>
            <a:r>
              <a:rPr lang="pt-PT" altLang="zh-CN" dirty="0"/>
              <a:t>To create a correct test class, it is necessary to open the file that contain the functions in Android Studio and press Alt+Ctrl+T to generate a class test. </a:t>
            </a:r>
          </a:p>
          <a:p>
            <a:pPr algn="just"/>
            <a:endParaRPr lang="pt-PT" altLang="zh-CN" dirty="0"/>
          </a:p>
          <a:p>
            <a:pPr algn="just"/>
            <a:endParaRPr lang="pt-PT" altLang="zh-CN" dirty="0"/>
          </a:p>
          <a:p>
            <a:pPr algn="just"/>
            <a:endParaRPr lang="pt-PT" altLang="zh-CN" dirty="0"/>
          </a:p>
          <a:p>
            <a:pPr algn="just"/>
            <a:endParaRPr lang="pt-PT" altLang="zh-CN" dirty="0"/>
          </a:p>
          <a:p>
            <a:pPr algn="just"/>
            <a:endParaRPr lang="pt-PT" altLang="zh-CN" dirty="0"/>
          </a:p>
          <a:p>
            <a:pPr algn="just"/>
            <a:r>
              <a:rPr lang="pt-PT" altLang="zh-CN" dirty="0"/>
              <a:t>We can also select what functions we want to test.</a:t>
            </a:r>
            <a:endParaRPr lang="zh-CN" altLang="en-US" dirty="0"/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59578" y="3429000"/>
            <a:ext cx="7072842" cy="2102428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Imagem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6557" y="463784"/>
            <a:ext cx="5276850" cy="5892278"/>
          </a:xfrm>
          <a:prstGeom prst="rect">
            <a:avLst/>
          </a:prstGeom>
        </p:spPr>
      </p:pic>
      <p:cxnSp>
        <p:nvCxnSpPr>
          <p:cNvPr id="16" name="Conexão reta unidirecional 7"/>
          <p:cNvCxnSpPr>
            <a:endCxn id="17" idx="1"/>
          </p:cNvCxnSpPr>
          <p:nvPr/>
        </p:nvCxnSpPr>
        <p:spPr>
          <a:xfrm flipV="1">
            <a:off x="5287580" y="734543"/>
            <a:ext cx="1676671" cy="361052"/>
          </a:xfrm>
          <a:prstGeom prst="straightConnector1">
            <a:avLst/>
          </a:prstGeom>
          <a:ln w="1016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CaixaDeTexto 9"/>
          <p:cNvSpPr txBox="1"/>
          <p:nvPr/>
        </p:nvSpPr>
        <p:spPr>
          <a:xfrm>
            <a:off x="6964251" y="503710"/>
            <a:ext cx="351583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pt-PT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PT" sz="2400" b="1" dirty="0"/>
              <a:t>Select the targeted library</a:t>
            </a:r>
          </a:p>
        </p:txBody>
      </p:sp>
      <p:cxnSp>
        <p:nvCxnSpPr>
          <p:cNvPr id="18" name="Conexão reta unidirecional 12"/>
          <p:cNvCxnSpPr/>
          <p:nvPr/>
        </p:nvCxnSpPr>
        <p:spPr>
          <a:xfrm flipV="1">
            <a:off x="5165596" y="1453140"/>
            <a:ext cx="1798655" cy="70338"/>
          </a:xfrm>
          <a:prstGeom prst="straightConnector1">
            <a:avLst/>
          </a:prstGeom>
          <a:ln w="1016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CaixaDeTexto 14"/>
          <p:cNvSpPr txBox="1"/>
          <p:nvPr/>
        </p:nvSpPr>
        <p:spPr>
          <a:xfrm>
            <a:off x="7086506" y="1222307"/>
            <a:ext cx="258596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pt-PT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PT" sz="2400" b="1" dirty="0" err="1"/>
              <a:t>Choose</a:t>
            </a:r>
            <a:r>
              <a:rPr lang="pt-PT" sz="2400" b="1" dirty="0"/>
              <a:t> </a:t>
            </a:r>
            <a:r>
              <a:rPr lang="pt-PT" sz="2400" b="1" dirty="0" err="1"/>
              <a:t>name</a:t>
            </a:r>
            <a:r>
              <a:rPr lang="pt-PT" sz="2400" b="1" dirty="0"/>
              <a:t> </a:t>
            </a:r>
            <a:r>
              <a:rPr lang="pt-PT" sz="2400" b="1" dirty="0" err="1"/>
              <a:t>class</a:t>
            </a:r>
            <a:endParaRPr lang="pt-PT" sz="2400" b="1" dirty="0"/>
          </a:p>
        </p:txBody>
      </p:sp>
      <p:cxnSp>
        <p:nvCxnSpPr>
          <p:cNvPr id="20" name="Conexão reta unidirecional 15"/>
          <p:cNvCxnSpPr>
            <a:endCxn id="21" idx="1"/>
          </p:cNvCxnSpPr>
          <p:nvPr/>
        </p:nvCxnSpPr>
        <p:spPr>
          <a:xfrm>
            <a:off x="4449243" y="2773681"/>
            <a:ext cx="2515008" cy="58084"/>
          </a:xfrm>
          <a:prstGeom prst="straightConnector1">
            <a:avLst/>
          </a:prstGeom>
          <a:ln w="1016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CaixaDeTexto 19"/>
          <p:cNvSpPr txBox="1"/>
          <p:nvPr/>
        </p:nvSpPr>
        <p:spPr>
          <a:xfrm>
            <a:off x="6964251" y="2416266"/>
            <a:ext cx="404110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pt-PT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PT" sz="2400" b="1" dirty="0"/>
              <a:t>These options are to generate</a:t>
            </a:r>
          </a:p>
          <a:p>
            <a:r>
              <a:rPr lang="pt-PT" sz="2400" b="1" dirty="0" err="1"/>
              <a:t>Automatic</a:t>
            </a:r>
            <a:r>
              <a:rPr lang="pt-PT" sz="2400" b="1" dirty="0"/>
              <a:t> </a:t>
            </a:r>
            <a:r>
              <a:rPr lang="pt-PT" sz="2400" b="1" dirty="0" err="1"/>
              <a:t>Code</a:t>
            </a:r>
            <a:r>
              <a:rPr lang="pt-PT" sz="2400" b="1" dirty="0"/>
              <a:t> </a:t>
            </a:r>
          </a:p>
        </p:txBody>
      </p:sp>
      <p:cxnSp>
        <p:nvCxnSpPr>
          <p:cNvPr id="22" name="Conexão reta unidirecional 22"/>
          <p:cNvCxnSpPr/>
          <p:nvPr/>
        </p:nvCxnSpPr>
        <p:spPr>
          <a:xfrm flipV="1">
            <a:off x="4683275" y="4607860"/>
            <a:ext cx="2140299" cy="90899"/>
          </a:xfrm>
          <a:prstGeom prst="straightConnector1">
            <a:avLst/>
          </a:prstGeom>
          <a:ln w="1016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CaixaDeTexto 27"/>
          <p:cNvSpPr txBox="1"/>
          <p:nvPr/>
        </p:nvSpPr>
        <p:spPr>
          <a:xfrm>
            <a:off x="6823574" y="4395025"/>
            <a:ext cx="457644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pt-PT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PT" sz="2400" b="1" dirty="0" err="1"/>
              <a:t>Select</a:t>
            </a:r>
            <a:r>
              <a:rPr lang="pt-PT" sz="2400" b="1" dirty="0"/>
              <a:t> </a:t>
            </a:r>
            <a:r>
              <a:rPr lang="pt-PT" sz="2400" b="1" dirty="0" err="1"/>
              <a:t>functions</a:t>
            </a:r>
            <a:r>
              <a:rPr lang="pt-PT" sz="2400" b="1" dirty="0"/>
              <a:t> </a:t>
            </a:r>
            <a:r>
              <a:rPr lang="pt-PT" sz="2400" b="1" dirty="0" err="1"/>
              <a:t>who</a:t>
            </a:r>
            <a:r>
              <a:rPr lang="pt-PT" sz="2400" b="1" dirty="0"/>
              <a:t> </a:t>
            </a:r>
            <a:r>
              <a:rPr lang="pt-PT" sz="2400" b="1" dirty="0" err="1"/>
              <a:t>wants</a:t>
            </a:r>
            <a:r>
              <a:rPr lang="pt-PT" sz="2400" b="1" dirty="0"/>
              <a:t> to </a:t>
            </a:r>
            <a:r>
              <a:rPr lang="pt-PT" sz="2400" b="1" dirty="0" err="1"/>
              <a:t>test</a:t>
            </a:r>
            <a:endParaRPr lang="pt-PT" sz="2400" b="1" dirty="0"/>
          </a:p>
        </p:txBody>
      </p:sp>
      <p:cxnSp>
        <p:nvCxnSpPr>
          <p:cNvPr id="24" name="Conexão reta unidirecional 28"/>
          <p:cNvCxnSpPr>
            <a:endCxn id="25" idx="1"/>
          </p:cNvCxnSpPr>
          <p:nvPr/>
        </p:nvCxnSpPr>
        <p:spPr>
          <a:xfrm flipV="1">
            <a:off x="4574417" y="6173556"/>
            <a:ext cx="2596150" cy="2"/>
          </a:xfrm>
          <a:prstGeom prst="straightConnector1">
            <a:avLst/>
          </a:prstGeom>
          <a:ln w="1016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CaixaDeTexto 30"/>
          <p:cNvSpPr txBox="1"/>
          <p:nvPr/>
        </p:nvSpPr>
        <p:spPr>
          <a:xfrm>
            <a:off x="7170567" y="5942723"/>
            <a:ext cx="120892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pt-PT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PT" sz="2400" b="1" dirty="0" err="1"/>
              <a:t>Confirm</a:t>
            </a:r>
            <a:endParaRPr lang="pt-PT" sz="2400" b="1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PT" altLang="zh-CN" dirty="0"/>
              <a:t>Generated Class</a:t>
            </a:r>
            <a:endParaRPr lang="zh-CN" altLang="en-US" dirty="0"/>
          </a:p>
        </p:txBody>
      </p:sp>
      <p:pic>
        <p:nvPicPr>
          <p:cNvPr id="4" name="Imagem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310731" y="2396691"/>
            <a:ext cx="3570538" cy="384048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PT" altLang="zh-CN" dirty="0"/>
              <a:t>Test Settings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295402" y="2489199"/>
            <a:ext cx="9601196" cy="3318936"/>
          </a:xfrm>
        </p:spPr>
        <p:txBody>
          <a:bodyPr/>
          <a:lstStyle/>
          <a:p>
            <a:endParaRPr lang="zh-CN" altLang="en-US" dirty="0"/>
          </a:p>
        </p:txBody>
      </p:sp>
      <p:pic>
        <p:nvPicPr>
          <p:cNvPr id="4" name="Imagem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5402" y="2489198"/>
            <a:ext cx="4724400" cy="3454401"/>
          </a:xfrm>
          <a:prstGeom prst="rect">
            <a:avLst/>
          </a:prstGeom>
        </p:spPr>
      </p:pic>
      <p:pic>
        <p:nvPicPr>
          <p:cNvPr id="5" name="Imagem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2199" y="2489199"/>
            <a:ext cx="5291668" cy="34544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Result: No Error</a:t>
            </a:r>
            <a:endParaRPr lang="zh-CN" altLang="en-US" dirty="0"/>
          </a:p>
        </p:txBody>
      </p:sp>
      <p:pic>
        <p:nvPicPr>
          <p:cNvPr id="4" name="Imagem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459037" y="2883165"/>
            <a:ext cx="7619477" cy="286438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Test Conclusion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>
                <a:sym typeface="+mn-ea"/>
              </a:rPr>
              <a:t>Our code passed the first part of the test, but there are still some details to be adjusted.</a:t>
            </a:r>
            <a:endParaRPr lang="zh-CN" alt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Conclusions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 err="1"/>
              <a:t>Lihao</a:t>
            </a:r>
            <a:r>
              <a:rPr lang="en-US" altLang="zh-CN" dirty="0"/>
              <a:t> Wang (Felix)</a:t>
            </a:r>
            <a:endParaRPr lang="zh-CN" altLang="en-US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5E983CC7-21D7-4F59-A498-E26DE7F753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Plans</a:t>
            </a:r>
            <a:endParaRPr lang="zh-CN" altLang="en-US" dirty="0"/>
          </a:p>
        </p:txBody>
      </p:sp>
      <p:sp>
        <p:nvSpPr>
          <p:cNvPr id="5" name="竖排文字占位符 4">
            <a:extLst>
              <a:ext uri="{FF2B5EF4-FFF2-40B4-BE49-F238E27FC236}">
                <a16:creationId xmlns:a16="http://schemas.microsoft.com/office/drawing/2014/main" id="{2440C926-5ECA-4509-A44A-A19D575EAF5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horz"/>
          <a:lstStyle/>
          <a:p>
            <a:r>
              <a:rPr lang="en-US" altLang="zh-CN" dirty="0"/>
              <a:t>Review the documents (RA, SD, IS, etc.) corresponding to RA_2, SD_2.</a:t>
            </a:r>
          </a:p>
          <a:p>
            <a:r>
              <a:rPr lang="en-US" altLang="zh-CN" dirty="0"/>
              <a:t>Review the software description document before Code-2.</a:t>
            </a:r>
          </a:p>
          <a:p>
            <a:r>
              <a:rPr lang="en-US" altLang="zh-CN" dirty="0"/>
              <a:t>Make more comprehensive testing.</a:t>
            </a:r>
          </a:p>
          <a:p>
            <a:r>
              <a:rPr lang="en-US" altLang="zh-CN" dirty="0"/>
              <a:t>Prepare to solve problems that may appear during integration.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70122174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Visions for Future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Use more interesting icons to mark out the position.</a:t>
            </a:r>
          </a:p>
          <a:p>
            <a:r>
              <a:rPr lang="en-US" altLang="zh-CN" dirty="0"/>
              <a:t>Show some text above the icons.</a:t>
            </a:r>
          </a:p>
          <a:p>
            <a:r>
              <a:rPr lang="en-US" altLang="zh-CN" dirty="0"/>
              <a:t>Make tracks more colorful.</a:t>
            </a:r>
          </a:p>
          <a:p>
            <a:endParaRPr lang="en-US" altLang="zh-CN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2812575" y="2967335"/>
            <a:ext cx="6566862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CN" sz="5400" b="1" cap="none" spc="0" dirty="0">
                <a:ln w="12700">
                  <a:solidFill>
                    <a:schemeClr val="accent1"/>
                  </a:solidFill>
                  <a:prstDash val="solid"/>
                </a:ln>
                <a:pattFill prst="pct50">
                  <a:fgClr>
                    <a:schemeClr val="accent1"/>
                  </a:fgClr>
                  <a:bgClr>
                    <a:schemeClr val="accent1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accent1"/>
                  </a:outerShdw>
                </a:effectLst>
              </a:rPr>
              <a:t>Thanks for Listening!</a:t>
            </a:r>
            <a:endParaRPr lang="zh-CN" altLang="en-US" sz="5400" b="1" cap="none" spc="0" dirty="0">
              <a:ln w="12700">
                <a:solidFill>
                  <a:schemeClr val="accent1"/>
                </a:solidFill>
                <a:prstDash val="solid"/>
              </a:ln>
              <a:pattFill prst="pct50">
                <a:fgClr>
                  <a:schemeClr val="accent1"/>
                </a:fgClr>
                <a:bgClr>
                  <a:schemeClr val="accent1">
                    <a:lumMod val="20000"/>
                    <a:lumOff val="80000"/>
                  </a:schemeClr>
                </a:bgClr>
              </a:pattFill>
              <a:effectLst>
                <a:outerShdw dist="38100" dir="2640000" algn="bl" rotWithShape="0">
                  <a:schemeClr val="accent1"/>
                </a:outerShdw>
              </a:effectLst>
            </a:endParaRP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环保">
  <a:themeElements>
    <a:clrScheme name="环保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环保">
      <a:majorFont>
        <a:latin typeface="Garamond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环保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>
            <a:fillRect/>
          </a:stretch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0</TotalTime>
  <Words>748</Words>
  <Application>Microsoft Office PowerPoint</Application>
  <PresentationFormat>宽屏</PresentationFormat>
  <Paragraphs>112</Paragraphs>
  <Slides>28</Slides>
  <Notes>4</Notes>
  <HiddenSlides>0</HiddenSlides>
  <MMClips>2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28</vt:i4>
      </vt:variant>
    </vt:vector>
  </HeadingPairs>
  <TitlesOfParts>
    <vt:vector size="34" baseType="lpstr">
      <vt:lpstr>等线</vt:lpstr>
      <vt:lpstr>微软雅黑</vt:lpstr>
      <vt:lpstr>Arial</vt:lpstr>
      <vt:lpstr>Garamond</vt:lpstr>
      <vt:lpstr>Times New Roman</vt:lpstr>
      <vt:lpstr>环保</vt:lpstr>
      <vt:lpstr>Map Module</vt:lpstr>
      <vt:lpstr>Requirement Analysis</vt:lpstr>
      <vt:lpstr>Internal Requirements</vt:lpstr>
      <vt:lpstr>Aims of the Module</vt:lpstr>
      <vt:lpstr>System Design</vt:lpstr>
      <vt:lpstr>Workflow</vt:lpstr>
      <vt:lpstr>PowerPoint 演示文稿</vt:lpstr>
      <vt:lpstr>PowerPoint 演示文稿</vt:lpstr>
      <vt:lpstr>PowerPoint 演示文稿</vt:lpstr>
      <vt:lpstr>Coding</vt:lpstr>
      <vt:lpstr>Implementation</vt:lpstr>
      <vt:lpstr>Tool Introduction——BaiduMap</vt:lpstr>
      <vt:lpstr>BaiduMap API</vt:lpstr>
      <vt:lpstr>Show</vt:lpstr>
      <vt:lpstr>Show</vt:lpstr>
      <vt:lpstr>Testing</vt:lpstr>
      <vt:lpstr>Test on JavaScript</vt:lpstr>
      <vt:lpstr>Test on JavaScript</vt:lpstr>
      <vt:lpstr>Test on Android</vt:lpstr>
      <vt:lpstr>PowerPoint 演示文稿</vt:lpstr>
      <vt:lpstr>Generated Class</vt:lpstr>
      <vt:lpstr>Test Settings</vt:lpstr>
      <vt:lpstr>Result: No Error</vt:lpstr>
      <vt:lpstr>Test Conclusion</vt:lpstr>
      <vt:lpstr>Conclusions</vt:lpstr>
      <vt:lpstr>Plans</vt:lpstr>
      <vt:lpstr>Visions for Future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Map Module</dc:title>
  <dc:creator>theeagle</dc:creator>
  <cp:lastModifiedBy>1 1</cp:lastModifiedBy>
  <cp:revision>47</cp:revision>
  <dcterms:created xsi:type="dcterms:W3CDTF">2020-05-10T10:17:00Z</dcterms:created>
  <dcterms:modified xsi:type="dcterms:W3CDTF">2020-05-17T13:47:58Z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2052-11.3.0.8632</vt:lpwstr>
  </property>
</Properties>
</file>