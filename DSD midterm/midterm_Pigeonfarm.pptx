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2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64" r:id="rId2"/>
    <p:sldId id="257" r:id="rId3"/>
    <p:sldId id="258" r:id="rId4"/>
    <p:sldId id="334" r:id="rId5"/>
    <p:sldId id="336" r:id="rId6"/>
    <p:sldId id="360" r:id="rId7"/>
    <p:sldId id="335" r:id="rId8"/>
    <p:sldId id="352" r:id="rId9"/>
    <p:sldId id="353" r:id="rId10"/>
    <p:sldId id="354" r:id="rId11"/>
    <p:sldId id="355" r:id="rId12"/>
    <p:sldId id="384" r:id="rId13"/>
    <p:sldId id="338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56" r:id="rId23"/>
    <p:sldId id="357" r:id="rId24"/>
    <p:sldId id="358" r:id="rId25"/>
    <p:sldId id="339" r:id="rId26"/>
    <p:sldId id="340" r:id="rId27"/>
    <p:sldId id="359" r:id="rId28"/>
    <p:sldId id="341" r:id="rId29"/>
    <p:sldId id="342" r:id="rId30"/>
    <p:sldId id="385" r:id="rId31"/>
    <p:sldId id="386" r:id="rId32"/>
    <p:sldId id="343" r:id="rId33"/>
  </p:sldIdLst>
  <p:sldSz cx="9144000" cy="5145088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9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40" autoAdjust="0"/>
    <p:restoredTop sz="94660"/>
  </p:normalViewPr>
  <p:slideViewPr>
    <p:cSldViewPr>
      <p:cViewPr varScale="1">
        <p:scale>
          <a:sx n="108" d="100"/>
          <a:sy n="108" d="100"/>
        </p:scale>
        <p:origin x="710" y="72"/>
      </p:cViewPr>
      <p:guideLst>
        <p:guide orient="horz" pos="159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7A14F398-E279-4563-97D7-CD45B0F01439}" type="datetimeFigureOut">
              <a:rPr lang="zh-CN" altLang="en-US" smtClean="0"/>
              <a:t>2020/5/19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6F30D575-0996-4A75-BB26-7F3A64A10107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30D575-0996-4A75-BB26-7F3A64A1010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D833F6-39CB-47A6-A5EC-FEA82D01737A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30D575-0996-4A75-BB26-7F3A64A10107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432CAF-49F6-421F-9490-E47DD0DF80AB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30D575-0996-4A75-BB26-7F3A64A10107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30D575-0996-4A75-BB26-7F3A64A10107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30D575-0996-4A75-BB26-7F3A64A10107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30D575-0996-4A75-BB26-7F3A64A10107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30D575-0996-4A75-BB26-7F3A64A10107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30D575-0996-4A75-BB26-7F3A64A10107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30D575-0996-4A75-BB26-7F3A64A10107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30D575-0996-4A75-BB26-7F3A64A10107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30D575-0996-4A75-BB26-7F3A64A10107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30D575-0996-4A75-BB26-7F3A64A10107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30D575-0996-4A75-BB26-7F3A64A10107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30D575-0996-4A75-BB26-7F3A64A10107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30D575-0996-4A75-BB26-7F3A64A10107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30D575-0996-4A75-BB26-7F3A64A10107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30D575-0996-4A75-BB26-7F3A64A10107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14435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30D575-0996-4A75-BB26-7F3A64A10107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44672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30D575-0996-4A75-BB26-7F3A64A10107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313"/>
            <a:ext cx="7772400" cy="110285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5550"/>
            <a:ext cx="6400800" cy="13148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115E-07FC-47AE-8678-8B681C689199}" type="datetimeFigureOut">
              <a:rPr lang="zh-CN" altLang="en-US" smtClean="0"/>
              <a:t>2020/5/19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5BB56-9B96-4394-98D1-089DE868BD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3000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115E-07FC-47AE-8678-8B681C689199}" type="datetimeFigureOut">
              <a:rPr lang="zh-CN" altLang="en-US" smtClean="0"/>
              <a:t>2020/5/19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5BB56-9B96-4394-98D1-089DE868BD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3000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6196"/>
            <a:ext cx="7772400" cy="102187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708"/>
            <a:ext cx="7772400" cy="112548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115E-07FC-47AE-8678-8B681C689199}" type="datetimeFigureOut">
              <a:rPr lang="zh-CN" altLang="en-US" smtClean="0"/>
              <a:t>2020/5/19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5BB56-9B96-4394-98D1-089DE868BD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3000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115E-07FC-47AE-8678-8B681C689199}" type="datetimeFigureOut">
              <a:rPr lang="zh-CN" altLang="en-US" smtClean="0"/>
              <a:t>2020/5/19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5BB56-9B96-4394-98D1-089DE868BD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3000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690"/>
            <a:ext cx="4040188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660"/>
            <a:ext cx="4040188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690"/>
            <a:ext cx="4041775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660"/>
            <a:ext cx="4041775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115E-07FC-47AE-8678-8B681C689199}" type="datetimeFigureOut">
              <a:rPr lang="zh-CN" altLang="en-US" smtClean="0"/>
              <a:t>2020/5/19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5BB56-9B96-4394-98D1-089DE868BDA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6768244" y="4192724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精美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工作总结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www.1ppt.com/xiazai/zongjie/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工作计划：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www.1ppt.com/xiazai/jihua/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商务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www.1ppt.com/moban/shangwu/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个人简历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www.1ppt.com/xiazai/jianli/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毕业答辩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www.1ppt.com/xiazai/dabian/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工作汇报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www.1ppt.com/xiazai/huibao/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</a:p>
        </p:txBody>
      </p:sp>
    </p:spTree>
  </p:cSld>
  <p:clrMapOvr>
    <a:masterClrMapping/>
  </p:clrMapOvr>
  <p:transition spd="slow" advClick="0" advTm="3000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115E-07FC-47AE-8678-8B681C689199}" type="datetimeFigureOut">
              <a:rPr lang="zh-CN" altLang="en-US" smtClean="0"/>
              <a:t>2020/5/19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5BB56-9B96-4394-98D1-089DE868BD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3000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5088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23528" y="268288"/>
            <a:ext cx="8568952" cy="4644516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2921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115E-07FC-47AE-8678-8B681C689199}" type="datetimeFigureOut">
              <a:rPr lang="zh-CN" altLang="en-US" smtClean="0"/>
              <a:t>2020/5/19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5BB56-9B96-4394-98D1-089DE868BDA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251520" y="232284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165"/>
            <a:endParaRPr lang="zh-CN" altLang="en-US" sz="1400" dirty="0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slow" advClick="0" advTm="3000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5088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23528" y="268288"/>
            <a:ext cx="8568952" cy="4644516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2921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115E-07FC-47AE-8678-8B681C689199}" type="datetimeFigureOut">
              <a:rPr lang="zh-CN" altLang="en-US" smtClean="0"/>
              <a:t>2020/5/19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5BB56-9B96-4394-98D1-089DE868BDA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251520" y="232284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165"/>
            <a:endParaRPr lang="zh-CN" altLang="en-US" sz="1400" dirty="0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slow" advClick="0" advTm="3000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5088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23528" y="268288"/>
            <a:ext cx="8568952" cy="4644516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2921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115E-07FC-47AE-8678-8B681C689199}" type="datetimeFigureOut">
              <a:rPr lang="zh-CN" altLang="en-US" smtClean="0"/>
              <a:t>2020/5/19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5BB56-9B96-4394-98D1-089DE868BDA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251520" y="232284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165"/>
            <a:endParaRPr lang="zh-CN" altLang="en-US" sz="1400" dirty="0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slow" advClick="0" advTm="3000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5088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23528" y="268288"/>
            <a:ext cx="8568952" cy="4644516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2921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115E-07FC-47AE-8678-8B681C689199}" type="datetimeFigureOut">
              <a:rPr lang="zh-CN" altLang="en-US" smtClean="0"/>
              <a:t>2020/5/19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5BB56-9B96-4394-98D1-089DE868BDA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251520" y="232284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165"/>
            <a:endParaRPr lang="zh-CN" altLang="en-US" sz="1400" dirty="0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slow" advClick="0" advTm="3000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851"/>
            <a:ext cx="3008313" cy="871807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851"/>
            <a:ext cx="5111750" cy="439119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658"/>
            <a:ext cx="3008313" cy="351938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115E-07FC-47AE-8678-8B681C689199}" type="datetimeFigureOut">
              <a:rPr lang="zh-CN" altLang="en-US" smtClean="0"/>
              <a:t>2020/5/19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5BB56-9B96-4394-98D1-089DE868BD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3000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1561"/>
            <a:ext cx="5486400" cy="425185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723"/>
            <a:ext cx="5486400" cy="30870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6746"/>
            <a:ext cx="5486400" cy="6038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115E-07FC-47AE-8678-8B681C689199}" type="datetimeFigureOut">
              <a:rPr lang="zh-CN" altLang="en-US" smtClean="0"/>
              <a:t>2020/5/19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5BB56-9B96-4394-98D1-089DE868BD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3000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115E-07FC-47AE-8678-8B681C689199}" type="datetimeFigureOut">
              <a:rPr lang="zh-CN" altLang="en-US" smtClean="0"/>
              <a:t>2020/5/19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5BB56-9B96-4394-98D1-089DE868BD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3000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829"/>
            <a:ext cx="2057400" cy="3293095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829"/>
            <a:ext cx="6019800" cy="329309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115E-07FC-47AE-8678-8B681C689199}" type="datetimeFigureOut">
              <a:rPr lang="zh-CN" altLang="en-US" smtClean="0"/>
              <a:t>2020/5/19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5BB56-9B96-4394-98D1-089DE868BD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3000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 advTm="3000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 advTm="3000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 advTm="3000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 advTm="3000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 advTm="3000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2925" y="0"/>
            <a:ext cx="9146672" cy="5145088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032" tIns="32516" rIns="65032" bIns="32516"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3000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521"/>
            <a:ext cx="8229600" cy="3395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fld id="{2702115E-07FC-47AE-8678-8B681C689199}" type="datetimeFigureOut">
              <a:rPr lang="zh-CN" altLang="en-US" smtClean="0"/>
              <a:t>2020/5/19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8735"/>
            <a:ext cx="2895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fld id="{D7F5BB56-9B96-4394-98D1-089DE868BDAA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ransition spd="slow" advClick="0" advTm="3000">
    <p:push dir="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jpeg"/><Relationship Id="rId10" Type="http://schemas.openxmlformats.org/officeDocument/2006/relationships/image" Target="../media/image8.jpe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508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503548" y="484312"/>
            <a:ext cx="8172908" cy="41764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921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49333" y="3130707"/>
            <a:ext cx="1728192" cy="2616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Midterm Presentation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2226668" y="3081392"/>
            <a:ext cx="479867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39952" y="3328628"/>
            <a:ext cx="97210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2020.05.26</a:t>
            </a:r>
          </a:p>
          <a:p>
            <a:endParaRPr lang="en-US" altLang="zh-CN" sz="10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62672" y="2363053"/>
            <a:ext cx="4701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Pigeon Farm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932" y="1197423"/>
            <a:ext cx="1332148" cy="116563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5088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323528" y="268288"/>
            <a:ext cx="8568952" cy="4644516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2921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2356520"/>
            <a:ext cx="1835696" cy="4680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2922351" y="1637793"/>
            <a:ext cx="830099" cy="346249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6990803" y="2392524"/>
            <a:ext cx="830099" cy="346249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2922351" y="3018383"/>
            <a:ext cx="830099" cy="346249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en-US" altLang="zh-CN" b="1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3</a:t>
            </a:r>
            <a:endParaRPr lang="zh-CN" altLang="en-US" b="1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14"/>
          <p:cNvGrpSpPr/>
          <p:nvPr/>
        </p:nvGrpSpPr>
        <p:grpSpPr>
          <a:xfrm>
            <a:off x="3892452" y="1672444"/>
            <a:ext cx="2916324" cy="307777"/>
            <a:chOff x="5349226" y="1997656"/>
            <a:chExt cx="4272984" cy="731102"/>
          </a:xfrm>
          <a:solidFill>
            <a:schemeClr val="accent1"/>
          </a:solidFill>
        </p:grpSpPr>
        <p:sp>
          <p:nvSpPr>
            <p:cNvPr id="94" name="燕尾形 18"/>
            <p:cNvSpPr/>
            <p:nvPr/>
          </p:nvSpPr>
          <p:spPr>
            <a:xfrm rot="10800000">
              <a:off x="5349226" y="2010956"/>
              <a:ext cx="4272984" cy="670899"/>
            </a:xfrm>
            <a:prstGeom prst="chevron">
              <a:avLst>
                <a:gd name="adj" fmla="val 67746"/>
              </a:avLst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6618236" y="1997656"/>
              <a:ext cx="1770929" cy="7311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Who are we</a:t>
              </a:r>
              <a:endParaRPr lang="zh-C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Group 15"/>
          <p:cNvGrpSpPr/>
          <p:nvPr/>
        </p:nvGrpSpPr>
        <p:grpSpPr>
          <a:xfrm>
            <a:off x="3907850" y="2356523"/>
            <a:ext cx="2916706" cy="315906"/>
            <a:chOff x="2569789" y="3646467"/>
            <a:chExt cx="4272984" cy="750411"/>
          </a:xfrm>
          <a:solidFill>
            <a:schemeClr val="accent2"/>
          </a:solidFill>
        </p:grpSpPr>
        <p:sp>
          <p:nvSpPr>
            <p:cNvPr id="97" name="燕尾形 20"/>
            <p:cNvSpPr/>
            <p:nvPr/>
          </p:nvSpPr>
          <p:spPr>
            <a:xfrm>
              <a:off x="2569789" y="3646467"/>
              <a:ext cx="4272984" cy="670899"/>
            </a:xfrm>
            <a:prstGeom prst="chevron">
              <a:avLst>
                <a:gd name="adj" fmla="val 67746"/>
              </a:avLst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3352640" y="3665776"/>
              <a:ext cx="2775534" cy="7311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What we have done</a:t>
              </a:r>
              <a:endParaRPr lang="zh-C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Group 17"/>
          <p:cNvGrpSpPr/>
          <p:nvPr/>
        </p:nvGrpSpPr>
        <p:grpSpPr>
          <a:xfrm>
            <a:off x="3856448" y="3057434"/>
            <a:ext cx="2916324" cy="307777"/>
            <a:chOff x="5349226" y="5319918"/>
            <a:chExt cx="4272984" cy="731102"/>
          </a:xfrm>
          <a:solidFill>
            <a:schemeClr val="accent3"/>
          </a:solidFill>
        </p:grpSpPr>
        <p:sp>
          <p:nvSpPr>
            <p:cNvPr id="100" name="燕尾形 23"/>
            <p:cNvSpPr/>
            <p:nvPr/>
          </p:nvSpPr>
          <p:spPr>
            <a:xfrm rot="10800000">
              <a:off x="5349226" y="5365450"/>
              <a:ext cx="4272984" cy="670899"/>
            </a:xfrm>
            <a:prstGeom prst="chevron">
              <a:avLst>
                <a:gd name="adj" fmla="val 67746"/>
              </a:avLst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5829688" y="5319918"/>
              <a:ext cx="3417565" cy="7311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What we are going to do</a:t>
              </a:r>
              <a:endParaRPr lang="zh-C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323528" y="2362907"/>
            <a:ext cx="133214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MENU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1" grpId="0"/>
      <p:bldP spid="82" grpId="0"/>
      <p:bldP spid="83" grpId="0"/>
      <p:bldP spid="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5088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503548" y="484312"/>
            <a:ext cx="8172908" cy="4176464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2921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95936" y="1974267"/>
            <a:ext cx="830099" cy="346249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14"/>
          <p:cNvGrpSpPr/>
          <p:nvPr/>
        </p:nvGrpSpPr>
        <p:grpSpPr>
          <a:xfrm>
            <a:off x="3059832" y="2356520"/>
            <a:ext cx="2664296" cy="360040"/>
            <a:chOff x="5349226" y="2010956"/>
            <a:chExt cx="4272984" cy="670899"/>
          </a:xfrm>
          <a:solidFill>
            <a:schemeClr val="accent1"/>
          </a:solidFill>
        </p:grpSpPr>
        <p:sp>
          <p:nvSpPr>
            <p:cNvPr id="6" name="燕尾形 18"/>
            <p:cNvSpPr/>
            <p:nvPr/>
          </p:nvSpPr>
          <p:spPr>
            <a:xfrm rot="10800000">
              <a:off x="5349226" y="2010956"/>
              <a:ext cx="4272984" cy="670899"/>
            </a:xfrm>
            <a:prstGeom prst="chevron">
              <a:avLst>
                <a:gd name="adj" fmla="val 67746"/>
              </a:avLst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622259" y="2059649"/>
              <a:ext cx="1938449" cy="5735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lvl="0"/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Who are we</a:t>
              </a:r>
              <a:endParaRPr lang="zh-C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5688567" y="1299970"/>
            <a:ext cx="1917631" cy="529502"/>
          </a:xfrm>
          <a:prstGeom prst="rect">
            <a:avLst/>
          </a:prstGeom>
        </p:spPr>
        <p:txBody>
          <a:bodyPr wrap="square" lIns="68577" tIns="34289" rIns="68577" bIns="34289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Alex Machado</a:t>
            </a:r>
          </a:p>
          <a:p>
            <a:pPr>
              <a:lnSpc>
                <a:spcPct val="150000"/>
              </a:lnSpc>
            </a:pP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Developer, Tester</a:t>
            </a:r>
          </a:p>
        </p:txBody>
      </p:sp>
      <p:sp>
        <p:nvSpPr>
          <p:cNvPr id="24" name="矩形 23"/>
          <p:cNvSpPr/>
          <p:nvPr/>
        </p:nvSpPr>
        <p:spPr>
          <a:xfrm>
            <a:off x="1537803" y="1299970"/>
            <a:ext cx="1917631" cy="529502"/>
          </a:xfrm>
          <a:prstGeom prst="rect">
            <a:avLst/>
          </a:prstGeom>
        </p:spPr>
        <p:txBody>
          <a:bodyPr wrap="square" lIns="68577" tIns="34289" rIns="68577" bIns="34289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2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Jiayi</a:t>
            </a:r>
            <a:r>
              <a:rPr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Wang</a:t>
            </a:r>
          </a:p>
          <a:p>
            <a:pPr algn="r">
              <a:lnSpc>
                <a:spcPct val="150000"/>
              </a:lnSpc>
            </a:pP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PM</a:t>
            </a:r>
          </a:p>
        </p:txBody>
      </p:sp>
      <p:sp>
        <p:nvSpPr>
          <p:cNvPr id="22" name="矩形 21"/>
          <p:cNvSpPr/>
          <p:nvPr/>
        </p:nvSpPr>
        <p:spPr>
          <a:xfrm>
            <a:off x="6394609" y="2501476"/>
            <a:ext cx="1917631" cy="529502"/>
          </a:xfrm>
          <a:prstGeom prst="rect">
            <a:avLst/>
          </a:prstGeom>
        </p:spPr>
        <p:txBody>
          <a:bodyPr wrap="square" lIns="68577" tIns="34289" rIns="68577" bIns="34289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Sara </a:t>
            </a:r>
            <a:r>
              <a:rPr lang="en-US" altLang="zh-CN" sz="12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Nóbrega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Tester</a:t>
            </a:r>
          </a:p>
        </p:txBody>
      </p:sp>
      <p:sp>
        <p:nvSpPr>
          <p:cNvPr id="25" name="矩形 24"/>
          <p:cNvSpPr/>
          <p:nvPr/>
        </p:nvSpPr>
        <p:spPr>
          <a:xfrm>
            <a:off x="831762" y="2501476"/>
            <a:ext cx="1917631" cy="529502"/>
          </a:xfrm>
          <a:prstGeom prst="rect">
            <a:avLst/>
          </a:prstGeom>
        </p:spPr>
        <p:txBody>
          <a:bodyPr wrap="square" lIns="68577" tIns="34289" rIns="68577" bIns="34289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Wanting Zhao</a:t>
            </a:r>
          </a:p>
          <a:p>
            <a:pPr algn="r">
              <a:lnSpc>
                <a:spcPct val="150000"/>
              </a:lnSpc>
            </a:pP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</a:t>
            </a:r>
          </a:p>
        </p:txBody>
      </p:sp>
      <p:sp>
        <p:nvSpPr>
          <p:cNvPr id="23" name="矩形 22"/>
          <p:cNvSpPr/>
          <p:nvPr/>
        </p:nvSpPr>
        <p:spPr>
          <a:xfrm>
            <a:off x="5688567" y="3684729"/>
            <a:ext cx="1917631" cy="716926"/>
          </a:xfrm>
          <a:prstGeom prst="rect">
            <a:avLst/>
          </a:prstGeom>
        </p:spPr>
        <p:txBody>
          <a:bodyPr wrap="square" lIns="68577" tIns="34289" rIns="68577" bIns="34289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Tiago Lima</a:t>
            </a:r>
          </a:p>
          <a:p>
            <a:pPr>
              <a:lnSpc>
                <a:spcPct val="150000"/>
              </a:lnSpc>
            </a:pP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SA, Developer</a:t>
            </a:r>
          </a:p>
          <a:p>
            <a:pPr>
              <a:lnSpc>
                <a:spcPct val="150000"/>
              </a:lnSpc>
            </a:pPr>
            <a:endParaRPr lang="en-US" altLang="zh-CN" sz="8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537803" y="3684729"/>
            <a:ext cx="1917631" cy="529502"/>
          </a:xfrm>
          <a:prstGeom prst="rect">
            <a:avLst/>
          </a:prstGeom>
        </p:spPr>
        <p:txBody>
          <a:bodyPr wrap="square" lIns="68577" tIns="34289" rIns="68577" bIns="34289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Puli Wang</a:t>
            </a:r>
          </a:p>
          <a:p>
            <a:pPr algn="r">
              <a:lnSpc>
                <a:spcPct val="150000"/>
              </a:lnSpc>
            </a:pP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</a:t>
            </a:r>
          </a:p>
        </p:txBody>
      </p:sp>
      <p:sp>
        <p:nvSpPr>
          <p:cNvPr id="28" name="文本框 37"/>
          <p:cNvSpPr txBox="1"/>
          <p:nvPr/>
        </p:nvSpPr>
        <p:spPr>
          <a:xfrm>
            <a:off x="467544" y="361562"/>
            <a:ext cx="1836172" cy="315475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lvl="0"/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Team Built</a:t>
            </a:r>
            <a:endParaRPr lang="zh-CN" altLang="zh-CN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3063" y="2150526"/>
            <a:ext cx="1635843" cy="143136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004" y="1202895"/>
            <a:ext cx="952500" cy="9525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7662" y="2402901"/>
            <a:ext cx="954000" cy="954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8904" y="3614341"/>
            <a:ext cx="954000" cy="954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873" y="1201395"/>
            <a:ext cx="954000" cy="954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755" y="2402901"/>
            <a:ext cx="954000" cy="954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097" y="3607750"/>
            <a:ext cx="954000" cy="954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0697" y="1381361"/>
            <a:ext cx="219075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6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576244"/>
            <a:ext cx="219075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6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3757625"/>
            <a:ext cx="219075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6" y="1381361"/>
            <a:ext cx="219075" cy="219075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332" y="2579696"/>
            <a:ext cx="219075" cy="219075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125" y="3757625"/>
            <a:ext cx="219075" cy="219075"/>
          </a:xfrm>
          <a:prstGeom prst="rect">
            <a:avLst/>
          </a:prstGeom>
        </p:spPr>
      </p:pic>
      <p:sp>
        <p:nvSpPr>
          <p:cNvPr id="56" name="TextBox 5"/>
          <p:cNvSpPr txBox="1"/>
          <p:nvPr/>
        </p:nvSpPr>
        <p:spPr>
          <a:xfrm>
            <a:off x="467544" y="627966"/>
            <a:ext cx="2537826" cy="2616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https://vineash.github.io/JLU_DSD/</a:t>
            </a:r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4" grpId="0"/>
      <p:bldP spid="22" grpId="0"/>
      <p:bldP spid="25" grpId="0"/>
      <p:bldP spid="23" grpId="0"/>
      <p:bldP spid="26" grpId="0"/>
      <p:bldP spid="5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5088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503548" y="484312"/>
            <a:ext cx="8172908" cy="4176464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2921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95936" y="1974267"/>
            <a:ext cx="830099" cy="346249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14"/>
          <p:cNvGrpSpPr/>
          <p:nvPr/>
        </p:nvGrpSpPr>
        <p:grpSpPr>
          <a:xfrm>
            <a:off x="3059832" y="2356520"/>
            <a:ext cx="2664296" cy="360040"/>
            <a:chOff x="5349226" y="2010956"/>
            <a:chExt cx="4272984" cy="670899"/>
          </a:xfrm>
          <a:solidFill>
            <a:schemeClr val="accent1"/>
          </a:solidFill>
        </p:grpSpPr>
        <p:sp>
          <p:nvSpPr>
            <p:cNvPr id="6" name="燕尾形 18"/>
            <p:cNvSpPr/>
            <p:nvPr/>
          </p:nvSpPr>
          <p:spPr>
            <a:xfrm rot="10800000">
              <a:off x="5349226" y="2010956"/>
              <a:ext cx="4272984" cy="670899"/>
            </a:xfrm>
            <a:prstGeom prst="chevron">
              <a:avLst>
                <a:gd name="adj" fmla="val 67746"/>
              </a:avLst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099885" y="2059649"/>
              <a:ext cx="3012464" cy="5735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lvl="0"/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What we have done</a:t>
              </a:r>
              <a:endParaRPr lang="zh-C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37"/>
          <p:cNvSpPr txBox="1"/>
          <p:nvPr/>
        </p:nvSpPr>
        <p:spPr>
          <a:xfrm>
            <a:off x="467543" y="361562"/>
            <a:ext cx="3204357" cy="315475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lvl="0"/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Modules </a:t>
            </a:r>
            <a:endParaRPr lang="zh-CN" altLang="zh-CN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内容占位符 6"/>
          <p:cNvSpPr txBox="1"/>
          <p:nvPr/>
        </p:nvSpPr>
        <p:spPr>
          <a:xfrm>
            <a:off x="363641" y="772344"/>
            <a:ext cx="3308259" cy="4212468"/>
          </a:xfrm>
          <a:prstGeom prst="rect">
            <a:avLst/>
          </a:prstGeom>
        </p:spPr>
        <p:txBody>
          <a:bodyPr numCol="2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altLang="zh-CN" sz="1400" dirty="0"/>
              <a:t>Database</a:t>
            </a:r>
          </a:p>
          <a:p>
            <a:pPr lvl="1"/>
            <a:r>
              <a:rPr lang="en-US" altLang="zh-CN" sz="1200" dirty="0"/>
              <a:t>User</a:t>
            </a:r>
          </a:p>
          <a:p>
            <a:pPr lvl="1"/>
            <a:r>
              <a:rPr lang="en-US" altLang="zh-CN" sz="1200" dirty="0"/>
              <a:t>GIS</a:t>
            </a:r>
          </a:p>
          <a:p>
            <a:pPr lvl="1"/>
            <a:r>
              <a:rPr lang="en-US" altLang="zh-CN" sz="1200" dirty="0"/>
              <a:t>Wi-Fi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1400" dirty="0"/>
              <a:t>Algorithm</a:t>
            </a:r>
          </a:p>
          <a:p>
            <a:pPr lvl="1"/>
            <a:r>
              <a:rPr lang="en-US" altLang="zh-CN" sz="1200" dirty="0"/>
              <a:t>Positioning</a:t>
            </a:r>
          </a:p>
          <a:p>
            <a:pPr lvl="1"/>
            <a:r>
              <a:rPr lang="en-US" altLang="zh-CN" sz="1200" dirty="0"/>
              <a:t>Statistics </a:t>
            </a:r>
          </a:p>
          <a:p>
            <a:pPr lvl="1"/>
            <a:r>
              <a:rPr lang="en-US" altLang="zh-CN" sz="1200" dirty="0"/>
              <a:t>Intermediate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1400" dirty="0"/>
              <a:t>Client</a:t>
            </a:r>
          </a:p>
          <a:p>
            <a:pPr lvl="1"/>
            <a:r>
              <a:rPr lang="en-US" altLang="zh-CN" sz="1200" dirty="0"/>
              <a:t>Android/</a:t>
            </a:r>
            <a:r>
              <a:rPr lang="en-US" altLang="zh-CN" sz="1200" dirty="0" err="1"/>
              <a:t>iOs</a:t>
            </a:r>
            <a:endParaRPr lang="en-US" altLang="zh-CN" sz="1200" dirty="0"/>
          </a:p>
          <a:p>
            <a:pPr lvl="1"/>
            <a:r>
              <a:rPr lang="en-US" altLang="zh-CN" sz="1200" dirty="0"/>
              <a:t>Browser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1400" dirty="0"/>
              <a:t>Server</a:t>
            </a:r>
          </a:p>
          <a:p>
            <a:pPr lvl="1"/>
            <a:r>
              <a:rPr lang="en-US" altLang="zh-CN" sz="1200" dirty="0"/>
              <a:t>Web service</a:t>
            </a:r>
          </a:p>
          <a:p>
            <a:pPr lvl="1"/>
            <a:r>
              <a:rPr lang="en-US" altLang="zh-CN" sz="1200" dirty="0"/>
              <a:t>Pages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1400" dirty="0"/>
              <a:t>Map</a:t>
            </a:r>
          </a:p>
          <a:p>
            <a:pPr lvl="1"/>
            <a:r>
              <a:rPr lang="en-US" altLang="zh-CN" sz="1200" dirty="0"/>
              <a:t>Import</a:t>
            </a:r>
          </a:p>
          <a:p>
            <a:pPr lvl="1"/>
            <a:r>
              <a:rPr lang="en-US" altLang="zh-CN" sz="1200" dirty="0"/>
              <a:t>Draw </a:t>
            </a:r>
          </a:p>
          <a:p>
            <a:pPr marL="457200" indent="-457200">
              <a:buFont typeface="+mj-lt"/>
              <a:buAutoNum type="arabicPeriod"/>
            </a:pPr>
            <a:endParaRPr lang="en-US" altLang="zh-CN" sz="1200" dirty="0"/>
          </a:p>
        </p:txBody>
      </p:sp>
      <p:sp>
        <p:nvSpPr>
          <p:cNvPr id="4" name="爆炸形: 8 pt  3"/>
          <p:cNvSpPr/>
          <p:nvPr/>
        </p:nvSpPr>
        <p:spPr>
          <a:xfrm>
            <a:off x="2465766" y="689782"/>
            <a:ext cx="5292588" cy="3456384"/>
          </a:xfrm>
          <a:prstGeom prst="irregularSeal1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671900" y="1571588"/>
            <a:ext cx="396044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6"/>
            </a:pPr>
            <a:r>
              <a:rPr lang="en-US" altLang="zh-CN" sz="2800" b="1" dirty="0"/>
              <a:t>Wi-Fi Fingerprint</a:t>
            </a:r>
          </a:p>
          <a:p>
            <a:r>
              <a:rPr lang="en-US" altLang="zh-CN" sz="2400" b="1" dirty="0"/>
              <a:t>     - Place</a:t>
            </a:r>
          </a:p>
          <a:p>
            <a:r>
              <a:rPr lang="en-US" altLang="zh-CN" sz="2400" b="1" dirty="0"/>
              <a:t>     - Measure</a:t>
            </a:r>
          </a:p>
          <a:p>
            <a:r>
              <a:rPr lang="en-US" altLang="zh-CN" sz="2400" b="1" dirty="0"/>
              <a:t>     - Upload</a:t>
            </a:r>
            <a:endParaRPr lang="zh-CN" altLang="en-US" sz="3600" b="1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2374813"/>
            <a:ext cx="1332148" cy="116563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任意多边形 32"/>
          <p:cNvSpPr/>
          <p:nvPr/>
        </p:nvSpPr>
        <p:spPr>
          <a:xfrm>
            <a:off x="-8906" y="1560435"/>
            <a:ext cx="9180861" cy="3602911"/>
          </a:xfrm>
          <a:custGeom>
            <a:avLst/>
            <a:gdLst>
              <a:gd name="connsiteX0" fmla="*/ 0 w 9020175"/>
              <a:gd name="connsiteY0" fmla="*/ 3895725 h 3895725"/>
              <a:gd name="connsiteX1" fmla="*/ 4581525 w 9020175"/>
              <a:gd name="connsiteY1" fmla="*/ 942975 h 3895725"/>
              <a:gd name="connsiteX2" fmla="*/ 9020175 w 9020175"/>
              <a:gd name="connsiteY2" fmla="*/ 0 h 3895725"/>
              <a:gd name="connsiteX0-1" fmla="*/ 0 w 9020175"/>
              <a:gd name="connsiteY0-2" fmla="*/ 3895725 h 3895725"/>
              <a:gd name="connsiteX1-3" fmla="*/ 4581525 w 9020175"/>
              <a:gd name="connsiteY1-4" fmla="*/ 942975 h 3895725"/>
              <a:gd name="connsiteX2-5" fmla="*/ 9020175 w 9020175"/>
              <a:gd name="connsiteY2-6" fmla="*/ 0 h 3895725"/>
              <a:gd name="connsiteX0-7" fmla="*/ 0 w 9020175"/>
              <a:gd name="connsiteY0-8" fmla="*/ 3895725 h 3895725"/>
              <a:gd name="connsiteX1-9" fmla="*/ 4533900 w 9020175"/>
              <a:gd name="connsiteY1-10" fmla="*/ 771525 h 3895725"/>
              <a:gd name="connsiteX2-11" fmla="*/ 9020175 w 9020175"/>
              <a:gd name="connsiteY2-12" fmla="*/ 0 h 3895725"/>
              <a:gd name="connsiteX0-13" fmla="*/ 0 w 9020175"/>
              <a:gd name="connsiteY0-14" fmla="*/ 3896127 h 3896127"/>
              <a:gd name="connsiteX1-15" fmla="*/ 4533900 w 9020175"/>
              <a:gd name="connsiteY1-16" fmla="*/ 771927 h 3896127"/>
              <a:gd name="connsiteX2-17" fmla="*/ 9020175 w 9020175"/>
              <a:gd name="connsiteY2-18" fmla="*/ 402 h 3896127"/>
              <a:gd name="connsiteX0-19" fmla="*/ 0 w 9020175"/>
              <a:gd name="connsiteY0-20" fmla="*/ 3896127 h 3896127"/>
              <a:gd name="connsiteX1-21" fmla="*/ 4533900 w 9020175"/>
              <a:gd name="connsiteY1-22" fmla="*/ 771927 h 3896127"/>
              <a:gd name="connsiteX2-23" fmla="*/ 9020175 w 9020175"/>
              <a:gd name="connsiteY2-24" fmla="*/ 402 h 3896127"/>
              <a:gd name="connsiteX0-25" fmla="*/ 0 w 9163050"/>
              <a:gd name="connsiteY0-26" fmla="*/ 4067388 h 4067388"/>
              <a:gd name="connsiteX1-27" fmla="*/ 4676775 w 9163050"/>
              <a:gd name="connsiteY1-28" fmla="*/ 771738 h 4067388"/>
              <a:gd name="connsiteX2-29" fmla="*/ 9163050 w 9163050"/>
              <a:gd name="connsiteY2-30" fmla="*/ 213 h 4067388"/>
              <a:gd name="connsiteX0-31" fmla="*/ 0 w 9210675"/>
              <a:gd name="connsiteY0-32" fmla="*/ 4124556 h 4124556"/>
              <a:gd name="connsiteX1-33" fmla="*/ 4724400 w 9210675"/>
              <a:gd name="connsiteY1-34" fmla="*/ 771756 h 4124556"/>
              <a:gd name="connsiteX2-35" fmla="*/ 9210675 w 9210675"/>
              <a:gd name="connsiteY2-36" fmla="*/ 231 h 4124556"/>
              <a:gd name="connsiteX0-37" fmla="*/ 0 w 9182100"/>
              <a:gd name="connsiteY0-38" fmla="*/ 3921278 h 3921278"/>
              <a:gd name="connsiteX1-39" fmla="*/ 4724400 w 9182100"/>
              <a:gd name="connsiteY1-40" fmla="*/ 568478 h 3921278"/>
              <a:gd name="connsiteX2-41" fmla="*/ 9182100 w 9182100"/>
              <a:gd name="connsiteY2-42" fmla="*/ 6503 h 3921278"/>
              <a:gd name="connsiteX0-43" fmla="*/ 0 w 9182100"/>
              <a:gd name="connsiteY0-44" fmla="*/ 3969956 h 3969956"/>
              <a:gd name="connsiteX1-45" fmla="*/ 4724400 w 9182100"/>
              <a:gd name="connsiteY1-46" fmla="*/ 617156 h 3969956"/>
              <a:gd name="connsiteX2-47" fmla="*/ 9182100 w 9182100"/>
              <a:gd name="connsiteY2-48" fmla="*/ 55181 h 3969956"/>
              <a:gd name="connsiteX0-49" fmla="*/ 0 w 9182100"/>
              <a:gd name="connsiteY0-50" fmla="*/ 3978254 h 3978254"/>
              <a:gd name="connsiteX1-51" fmla="*/ 4724400 w 9182100"/>
              <a:gd name="connsiteY1-52" fmla="*/ 625454 h 3978254"/>
              <a:gd name="connsiteX2-53" fmla="*/ 9182100 w 9182100"/>
              <a:gd name="connsiteY2-54" fmla="*/ 63479 h 3978254"/>
              <a:gd name="connsiteX0-55" fmla="*/ 0 w 9182100"/>
              <a:gd name="connsiteY0-56" fmla="*/ 3994887 h 3994887"/>
              <a:gd name="connsiteX1-57" fmla="*/ 4724400 w 9182100"/>
              <a:gd name="connsiteY1-58" fmla="*/ 642087 h 3994887"/>
              <a:gd name="connsiteX2-59" fmla="*/ 9182100 w 9182100"/>
              <a:gd name="connsiteY2-60" fmla="*/ 80112 h 399488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9182100" h="3994887">
                <a:moveTo>
                  <a:pt x="0" y="3994887"/>
                </a:moveTo>
                <a:cubicBezTo>
                  <a:pt x="1215231" y="2805055"/>
                  <a:pt x="2908300" y="1380274"/>
                  <a:pt x="4724400" y="642087"/>
                </a:cubicBezTo>
                <a:cubicBezTo>
                  <a:pt x="6540500" y="-96100"/>
                  <a:pt x="8324056" y="-58795"/>
                  <a:pt x="9182100" y="80112"/>
                </a:cubicBezTo>
              </a:path>
            </a:pathLst>
          </a:cu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1430" tIns="45715" rIns="91430" bIns="45715" rtlCol="0" anchor="ctr"/>
          <a:lstStyle/>
          <a:p>
            <a:pPr algn="ctr"/>
            <a:endParaRPr lang="zh-CN" altLang="en-US" sz="1800" dirty="0">
              <a:ea typeface="微软雅黑" panose="020B0503020204020204" pitchFamily="34" charset="-122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1529182" y="3713119"/>
            <a:ext cx="215971" cy="2160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76200" prstMaterial="matte"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zh-CN" altLang="en-US" sz="1800" dirty="0">
              <a:ea typeface="微软雅黑" panose="020B0503020204020204" pitchFamily="34" charset="-122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3016682" y="2792299"/>
            <a:ext cx="215971" cy="2160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76200" prstMaterial="matte"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zh-CN" altLang="en-US" sz="1800" dirty="0">
              <a:ea typeface="微软雅黑" panose="020B0503020204020204" pitchFamily="34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4942247" y="1931374"/>
            <a:ext cx="215971" cy="2160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76200" prstMaterial="matte"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zh-CN" altLang="en-US" sz="1800" dirty="0">
              <a:ea typeface="微软雅黑" panose="020B0503020204020204" pitchFamily="34" charset="-122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6515978" y="1549202"/>
            <a:ext cx="215971" cy="2160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76200" prstMaterial="matte"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zh-CN" altLang="en-US" sz="1800" dirty="0">
              <a:ea typeface="微软雅黑" panose="020B0503020204020204" pitchFamily="34" charset="-122"/>
            </a:endParaRPr>
          </a:p>
        </p:txBody>
      </p:sp>
      <p:grpSp>
        <p:nvGrpSpPr>
          <p:cNvPr id="3" name="组合 38"/>
          <p:cNvGrpSpPr/>
          <p:nvPr/>
        </p:nvGrpSpPr>
        <p:grpSpPr>
          <a:xfrm>
            <a:off x="664301" y="2356402"/>
            <a:ext cx="1158200" cy="1123950"/>
            <a:chOff x="1331640" y="1918189"/>
            <a:chExt cx="1158357" cy="1123950"/>
          </a:xfrm>
          <a:solidFill>
            <a:schemeClr val="accent1"/>
          </a:solidFill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</p:grpSpPr>
        <p:sp>
          <p:nvSpPr>
            <p:cNvPr id="40" name="椭圆形标注 39"/>
            <p:cNvSpPr/>
            <p:nvPr/>
          </p:nvSpPr>
          <p:spPr>
            <a:xfrm>
              <a:off x="1331640" y="1918189"/>
              <a:ext cx="1149695" cy="1123950"/>
            </a:xfrm>
            <a:prstGeom prst="wedgeEllipseCallout">
              <a:avLst>
                <a:gd name="adj1" fmla="val 23905"/>
                <a:gd name="adj2" fmla="val 58966"/>
              </a:avLst>
            </a:prstGeom>
            <a:grpFill/>
            <a:ln>
              <a:noFill/>
            </a:ln>
            <a:effectLst/>
            <a:sp3d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ea typeface="微软雅黑" panose="020B0503020204020204" pitchFamily="34" charset="-122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353763" y="2223179"/>
              <a:ext cx="1136234" cy="523220"/>
            </a:xfrm>
            <a:prstGeom prst="rect">
              <a:avLst/>
            </a:prstGeom>
            <a:noFill/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p3d prstMaterial="matte"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bg1">
                      <a:lumMod val="95000"/>
                    </a:schemeClr>
                  </a:solidFill>
                  <a:ea typeface="微软雅黑" panose="020B0503020204020204" pitchFamily="34" charset="-122"/>
                </a:rPr>
                <a:t>Requirement</a:t>
              </a:r>
            </a:p>
            <a:p>
              <a:pPr algn="ctr"/>
              <a:r>
                <a:rPr lang="en-US" altLang="zh-CN" sz="1400" dirty="0">
                  <a:solidFill>
                    <a:schemeClr val="bg1">
                      <a:lumMod val="95000"/>
                    </a:schemeClr>
                  </a:solidFill>
                  <a:ea typeface="微软雅黑" panose="020B0503020204020204" pitchFamily="34" charset="-122"/>
                </a:rPr>
                <a:t>Analysis</a:t>
              </a:r>
              <a:endParaRPr lang="zh-CN" altLang="en-US" sz="1400" dirty="0">
                <a:solidFill>
                  <a:schemeClr val="bg1">
                    <a:lumMod val="95000"/>
                  </a:schemeClr>
                </a:solidFill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41"/>
          <p:cNvGrpSpPr/>
          <p:nvPr/>
        </p:nvGrpSpPr>
        <p:grpSpPr>
          <a:xfrm>
            <a:off x="3263058" y="2900299"/>
            <a:ext cx="1149540" cy="1123950"/>
            <a:chOff x="3694928" y="2635572"/>
            <a:chExt cx="1149695" cy="1123950"/>
          </a:xfrm>
          <a:solidFill>
            <a:schemeClr val="accent2"/>
          </a:solidFill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</p:grpSpPr>
        <p:sp>
          <p:nvSpPr>
            <p:cNvPr id="43" name="椭圆形标注 42"/>
            <p:cNvSpPr/>
            <p:nvPr/>
          </p:nvSpPr>
          <p:spPr>
            <a:xfrm>
              <a:off x="3694928" y="2635572"/>
              <a:ext cx="1149695" cy="1123950"/>
            </a:xfrm>
            <a:prstGeom prst="wedgeEllipseCallout">
              <a:avLst>
                <a:gd name="adj1" fmla="val -50658"/>
                <a:gd name="adj2" fmla="val -40187"/>
              </a:avLst>
            </a:prstGeom>
            <a:grpFill/>
            <a:ln>
              <a:noFill/>
            </a:ln>
            <a:effectLst/>
            <a:sp3d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ea typeface="微软雅黑" panose="020B0503020204020204" pitchFamily="34" charset="-122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935495" y="2936725"/>
              <a:ext cx="744471" cy="523220"/>
            </a:xfrm>
            <a:prstGeom prst="rect">
              <a:avLst/>
            </a:prstGeom>
            <a:noFill/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p3d prstMaterial="matte"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>
                      <a:lumMod val="95000"/>
                    </a:schemeClr>
                  </a:solidFill>
                  <a:ea typeface="微软雅黑" panose="020B0503020204020204" pitchFamily="34" charset="-122"/>
                </a:rPr>
                <a:t>System </a:t>
              </a:r>
            </a:p>
            <a:p>
              <a:r>
                <a:rPr lang="en-US" altLang="zh-CN" sz="1400" dirty="0">
                  <a:solidFill>
                    <a:schemeClr val="bg1">
                      <a:lumMod val="95000"/>
                    </a:schemeClr>
                  </a:solidFill>
                  <a:ea typeface="微软雅黑" panose="020B0503020204020204" pitchFamily="34" charset="-122"/>
                </a:rPr>
                <a:t>Design</a:t>
              </a:r>
              <a:endParaRPr lang="zh-CN" altLang="en-US" sz="1400" dirty="0">
                <a:solidFill>
                  <a:schemeClr val="bg1">
                    <a:lumMod val="95000"/>
                  </a:schemeClr>
                </a:solidFill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4"/>
          <p:cNvGrpSpPr/>
          <p:nvPr/>
        </p:nvGrpSpPr>
        <p:grpSpPr>
          <a:xfrm>
            <a:off x="3792708" y="906837"/>
            <a:ext cx="1149540" cy="1123950"/>
            <a:chOff x="4166431" y="757076"/>
            <a:chExt cx="1149695" cy="1123950"/>
          </a:xfrm>
          <a:solidFill>
            <a:schemeClr val="accent3"/>
          </a:solidFill>
          <a:effectLst/>
          <a:scene3d>
            <a:camera prst="orthographicFront">
              <a:rot lat="0" lon="0" rev="0"/>
            </a:camera>
            <a:lightRig rig="glow" dir="t"/>
          </a:scene3d>
        </p:grpSpPr>
        <p:sp>
          <p:nvSpPr>
            <p:cNvPr id="46" name="椭圆形标注 45"/>
            <p:cNvSpPr/>
            <p:nvPr/>
          </p:nvSpPr>
          <p:spPr>
            <a:xfrm>
              <a:off x="4166431" y="757076"/>
              <a:ext cx="1149695" cy="1123950"/>
            </a:xfrm>
            <a:prstGeom prst="wedgeEllipseCallout">
              <a:avLst>
                <a:gd name="adj1" fmla="val 47102"/>
                <a:gd name="adj2" fmla="val 40322"/>
              </a:avLst>
            </a:prstGeom>
            <a:grpFill/>
            <a:ln>
              <a:noFill/>
            </a:ln>
            <a:effectLst/>
            <a:sp3d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ea typeface="微软雅黑" panose="020B0503020204020204" pitchFamily="34" charset="-122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398555" y="1162643"/>
              <a:ext cx="691308" cy="307777"/>
            </a:xfrm>
            <a:prstGeom prst="rect">
              <a:avLst/>
            </a:prstGeom>
            <a:noFill/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p3d prstMaterial="matte"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>
                      <a:lumMod val="95000"/>
                    </a:schemeClr>
                  </a:solidFill>
                  <a:ea typeface="微软雅黑" panose="020B0503020204020204" pitchFamily="34" charset="-122"/>
                </a:rPr>
                <a:t>Coding</a:t>
              </a:r>
              <a:endParaRPr lang="zh-CN" altLang="en-US" sz="1400" dirty="0">
                <a:solidFill>
                  <a:schemeClr val="bg1">
                    <a:lumMod val="95000"/>
                  </a:schemeClr>
                </a:solidFill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47"/>
          <p:cNvGrpSpPr/>
          <p:nvPr/>
        </p:nvGrpSpPr>
        <p:grpSpPr>
          <a:xfrm>
            <a:off x="6731949" y="1736628"/>
            <a:ext cx="1149540" cy="1123950"/>
            <a:chOff x="7164288" y="1682700"/>
            <a:chExt cx="1149695" cy="1123950"/>
          </a:xfrm>
          <a:solidFill>
            <a:schemeClr val="accent4"/>
          </a:solidFill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</p:grpSpPr>
        <p:sp>
          <p:nvSpPr>
            <p:cNvPr id="49" name="椭圆形标注 48"/>
            <p:cNvSpPr/>
            <p:nvPr/>
          </p:nvSpPr>
          <p:spPr>
            <a:xfrm>
              <a:off x="7164288" y="1682700"/>
              <a:ext cx="1149695" cy="1123950"/>
            </a:xfrm>
            <a:prstGeom prst="wedgeEllipseCallout">
              <a:avLst>
                <a:gd name="adj1" fmla="val -45687"/>
                <a:gd name="adj2" fmla="val -43577"/>
              </a:avLst>
            </a:prstGeom>
            <a:grpFill/>
            <a:ln>
              <a:noFill/>
            </a:ln>
            <a:effectLst/>
            <a:sp3d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ea typeface="微软雅黑" panose="020B0503020204020204" pitchFamily="34" charset="-122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403408" y="2086568"/>
              <a:ext cx="697401" cy="307777"/>
            </a:xfrm>
            <a:prstGeom prst="rect">
              <a:avLst/>
            </a:prstGeom>
            <a:noFill/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p3d prstMaterial="matte"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>
                      <a:lumMod val="95000"/>
                    </a:schemeClr>
                  </a:solidFill>
                  <a:ea typeface="微软雅黑" panose="020B0503020204020204" pitchFamily="34" charset="-122"/>
                </a:rPr>
                <a:t>Testing</a:t>
              </a:r>
              <a:endParaRPr lang="zh-CN" altLang="en-US" sz="1400" dirty="0">
                <a:solidFill>
                  <a:schemeClr val="bg1">
                    <a:lumMod val="95000"/>
                  </a:schemeClr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2148645" y="2391294"/>
            <a:ext cx="1396611" cy="276989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Apr.10 – Apr.23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50340" y="3940677"/>
            <a:ext cx="1396611" cy="276989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Mar.26 – Apr.9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43177" y="2217907"/>
            <a:ext cx="1396611" cy="276989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Apr.24 – May.7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25657" y="1266060"/>
            <a:ext cx="1396611" cy="276989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May.8 - Now</a:t>
            </a:r>
          </a:p>
        </p:txBody>
      </p:sp>
      <p:sp>
        <p:nvSpPr>
          <p:cNvPr id="25" name="文本框 37"/>
          <p:cNvSpPr txBox="1"/>
          <p:nvPr/>
        </p:nvSpPr>
        <p:spPr>
          <a:xfrm>
            <a:off x="467544" y="361562"/>
            <a:ext cx="1836172" cy="315475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lvl="0"/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Timeline</a:t>
            </a:r>
            <a:endParaRPr lang="zh-CN" altLang="zh-CN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4689" y="3526406"/>
            <a:ext cx="1332148" cy="116563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500"/>
                            </p:stCondLst>
                            <p:childTnLst>
                              <p:par>
                                <p:cTn id="5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37" grpId="0" animBg="1"/>
      <p:bldP spid="51" grpId="0"/>
      <p:bldP spid="52" grpId="0"/>
      <p:bldP spid="53" grpId="0"/>
      <p:bldP spid="5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37"/>
          <p:cNvSpPr txBox="1"/>
          <p:nvPr/>
        </p:nvSpPr>
        <p:spPr>
          <a:xfrm>
            <a:off x="467543" y="361562"/>
            <a:ext cx="3204357" cy="315475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lvl="0"/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Requirement Analysis-External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zh-CN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Box 5"/>
          <p:cNvSpPr txBox="1"/>
          <p:nvPr/>
        </p:nvSpPr>
        <p:spPr>
          <a:xfrm>
            <a:off x="467544" y="627966"/>
            <a:ext cx="2537826" cy="2616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Mar.26 – Apr. 9</a:t>
            </a:r>
          </a:p>
        </p:txBody>
      </p:sp>
      <p:sp>
        <p:nvSpPr>
          <p:cNvPr id="3" name="矩形 2"/>
          <p:cNvSpPr/>
          <p:nvPr/>
        </p:nvSpPr>
        <p:spPr>
          <a:xfrm>
            <a:off x="467428" y="943441"/>
            <a:ext cx="44286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458A93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Use Case: Admin manages the user account in Database</a:t>
            </a:r>
            <a:endParaRPr lang="zh-CN" altLang="en-US" sz="1400" dirty="0">
              <a:solidFill>
                <a:srgbClr val="458A93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67182" y="1305083"/>
            <a:ext cx="637307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14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The administrator may want to operate user accounts at some point, for example</a:t>
            </a:r>
            <a:r>
              <a:rPr lang="en-US" altLang="zh-CN" sz="1400" dirty="0">
                <a:latin typeface="宋体" panose="02010600030101010101" pitchFamily="2" charset="-122"/>
                <a:ea typeface="MS Mincho" panose="02020609040205080304" pitchFamily="49" charset="-128"/>
                <a:cs typeface="Times New Roman" panose="02020503050405090304" pitchFamily="18" charset="0"/>
              </a:rPr>
              <a:t>:</a:t>
            </a:r>
            <a:endParaRPr lang="zh-CN" altLang="zh-CN" sz="14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503050405090304" pitchFamily="18" charset="0"/>
            </a:endParaRPr>
          </a:p>
          <a:p>
            <a:pPr marL="342900" lvl="0" indent="-342900">
              <a:spcAft>
                <a:spcPts val="0"/>
              </a:spcAft>
              <a:buFont typeface="Symbol" panose="05050102010706020507" pitchFamily="2" charset="2"/>
              <a:buChar char=""/>
            </a:pPr>
            <a:r>
              <a:rPr lang="en-US" altLang="zh-CN" sz="14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Create an account</a:t>
            </a:r>
            <a:endParaRPr lang="zh-CN" altLang="zh-CN" sz="14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503050405090304" pitchFamily="18" charset="0"/>
            </a:endParaRPr>
          </a:p>
          <a:p>
            <a:pPr marL="342900" lvl="0" indent="-342900">
              <a:spcAft>
                <a:spcPts val="0"/>
              </a:spcAft>
              <a:buFont typeface="Symbol" panose="05050102010706020507" pitchFamily="2" charset="2"/>
              <a:buChar char=""/>
            </a:pPr>
            <a:r>
              <a:rPr lang="en-US" altLang="zh-CN" sz="14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View certain account info</a:t>
            </a:r>
            <a:endParaRPr lang="zh-CN" altLang="zh-CN" sz="14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503050405090304" pitchFamily="18" charset="0"/>
            </a:endParaRPr>
          </a:p>
          <a:p>
            <a:pPr marL="342900" lvl="0" indent="-342900">
              <a:spcAft>
                <a:spcPts val="0"/>
              </a:spcAft>
              <a:buFont typeface="Symbol" panose="05050102010706020507" pitchFamily="2" charset="2"/>
              <a:buChar char=""/>
            </a:pPr>
            <a:r>
              <a:rPr lang="en-US" altLang="zh-CN" sz="14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Make changes to certain account info</a:t>
            </a:r>
            <a:endParaRPr lang="zh-CN" altLang="zh-CN" sz="14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503050405090304" pitchFamily="18" charset="0"/>
            </a:endParaRPr>
          </a:p>
          <a:p>
            <a:pPr marL="342900" lvl="0" indent="-342900">
              <a:spcAft>
                <a:spcPts val="0"/>
              </a:spcAft>
              <a:buFont typeface="Symbol" panose="05050102010706020507" pitchFamily="2" charset="2"/>
              <a:buChar char=""/>
            </a:pPr>
            <a:r>
              <a:rPr lang="en-US" altLang="zh-CN" sz="14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Delete an account, etc.</a:t>
            </a:r>
            <a:endParaRPr lang="zh-CN" altLang="zh-CN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503050405090304" pitchFamily="18" charset="0"/>
            </a:endParaRPr>
          </a:p>
        </p:txBody>
      </p:sp>
      <p:pic>
        <p:nvPicPr>
          <p:cNvPr id="8" name="图片 7"/>
          <p:cNvPicPr/>
          <p:nvPr/>
        </p:nvPicPr>
        <p:blipFill>
          <a:blip r:embed="rId3"/>
          <a:stretch>
            <a:fillRect/>
          </a:stretch>
        </p:blipFill>
        <p:spPr>
          <a:xfrm>
            <a:off x="561467" y="2575357"/>
            <a:ext cx="4240530" cy="209423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矩形 5"/>
          <p:cNvSpPr/>
          <p:nvPr/>
        </p:nvSpPr>
        <p:spPr>
          <a:xfrm>
            <a:off x="3646690" y="2671709"/>
            <a:ext cx="394218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Return a value which may represent successfully create / create fail</a:t>
            </a:r>
            <a:r>
              <a:rPr lang="zh-CN" altLang="zh-CN" sz="1000" dirty="0"/>
              <a:t> </a:t>
            </a:r>
            <a:endParaRPr lang="zh-CN" altLang="en-US" sz="1000" dirty="0"/>
          </a:p>
        </p:txBody>
      </p:sp>
      <p:sp>
        <p:nvSpPr>
          <p:cNvPr id="7" name="矩形 6"/>
          <p:cNvSpPr/>
          <p:nvPr/>
        </p:nvSpPr>
        <p:spPr>
          <a:xfrm>
            <a:off x="4716016" y="3124730"/>
            <a:ext cx="35027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0"/>
              </a:spcAft>
            </a:pPr>
            <a:r>
              <a:rPr lang="en-US" altLang="zh-CN" sz="10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List all the related information about the user in a clear way, </a:t>
            </a:r>
          </a:p>
          <a:p>
            <a:pPr lvl="0">
              <a:spcAft>
                <a:spcPts val="0"/>
              </a:spcAft>
            </a:pPr>
            <a:r>
              <a:rPr lang="en-US" altLang="zh-CN" sz="10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or return a NULL value.</a:t>
            </a:r>
            <a:endParaRPr lang="zh-CN" altLang="zh-CN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50305040509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16016" y="3785702"/>
            <a:ext cx="341545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Give admin the permission to modify user’s information, </a:t>
            </a:r>
          </a:p>
          <a:p>
            <a:r>
              <a:rPr lang="en-US" altLang="zh-CN" sz="10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and give feedback of result</a:t>
            </a:r>
            <a:r>
              <a:rPr lang="zh-CN" altLang="zh-CN" sz="1000" dirty="0"/>
              <a:t> </a:t>
            </a:r>
            <a:endParaRPr lang="zh-CN" altLang="en-US" sz="1000" dirty="0"/>
          </a:p>
        </p:txBody>
      </p:sp>
      <p:sp>
        <p:nvSpPr>
          <p:cNvPr id="10" name="矩形 9"/>
          <p:cNvSpPr/>
          <p:nvPr/>
        </p:nvSpPr>
        <p:spPr>
          <a:xfrm>
            <a:off x="3671900" y="4269477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0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Give admin the permission to delete items which are related to the certain user, and return the result of successfully create / create fail.</a:t>
            </a:r>
            <a:r>
              <a:rPr lang="zh-CN" altLang="zh-CN" sz="1000" dirty="0"/>
              <a:t> </a:t>
            </a:r>
            <a:endParaRPr lang="zh-CN" altLang="en-US" sz="10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5396" y="359713"/>
            <a:ext cx="1332148" cy="116563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/>
          <p:nvPr/>
        </p:nvPicPr>
        <p:blipFill>
          <a:blip r:embed="rId3"/>
          <a:stretch>
            <a:fillRect/>
          </a:stretch>
        </p:blipFill>
        <p:spPr>
          <a:xfrm>
            <a:off x="452505" y="2665936"/>
            <a:ext cx="4233545" cy="14046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文本框 37"/>
          <p:cNvSpPr txBox="1"/>
          <p:nvPr/>
        </p:nvSpPr>
        <p:spPr>
          <a:xfrm>
            <a:off x="467543" y="361562"/>
            <a:ext cx="3204357" cy="315475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lvl="0"/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Requirement Analysis-External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zh-CN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Box 5"/>
          <p:cNvSpPr txBox="1"/>
          <p:nvPr/>
        </p:nvSpPr>
        <p:spPr>
          <a:xfrm>
            <a:off x="467544" y="627966"/>
            <a:ext cx="2537826" cy="2616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Mar.26 – Apr. 9</a:t>
            </a:r>
          </a:p>
        </p:txBody>
      </p:sp>
      <p:sp>
        <p:nvSpPr>
          <p:cNvPr id="3" name="矩形 2"/>
          <p:cNvSpPr/>
          <p:nvPr/>
        </p:nvSpPr>
        <p:spPr>
          <a:xfrm>
            <a:off x="467182" y="932619"/>
            <a:ext cx="504056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458A93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Use Case: Admin views a certain user’s location information</a:t>
            </a:r>
            <a:endParaRPr lang="zh-CN" altLang="en-US" sz="1400" dirty="0">
              <a:solidFill>
                <a:srgbClr val="458A93"/>
              </a:solidFill>
              <a:latin typeface="Cambria" panose="02040503050406030204" pitchFamily="18" charset="0"/>
              <a:ea typeface="MS Mincho" panose="02020609040205080304" pitchFamily="49" charset="-128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67182" y="1305083"/>
            <a:ext cx="637307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The administrator may want to have an understanding of: </a:t>
            </a:r>
            <a:endParaRPr lang="zh-CN" altLang="zh-CN" sz="1400" dirty="0"/>
          </a:p>
          <a:p>
            <a:pPr marL="342900" indent="-342900">
              <a:buFont typeface="Symbol" panose="05050102010706020507" pitchFamily="2" charset="2"/>
              <a:buChar char=""/>
            </a:pPr>
            <a:r>
              <a:rPr lang="en-US" altLang="zh-CN" sz="14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Where a certain</a:t>
            </a:r>
            <a:r>
              <a:rPr lang="zh-CN" altLang="en-US" sz="14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 </a:t>
            </a:r>
            <a:r>
              <a:rPr lang="en-US" altLang="zh-CN" sz="14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user currently is </a:t>
            </a:r>
            <a:endParaRPr lang="zh-CN" altLang="zh-CN" sz="14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503050405090304" pitchFamily="18" charset="0"/>
            </a:endParaRPr>
          </a:p>
          <a:p>
            <a:pPr marL="342900" indent="-342900">
              <a:buFont typeface="Symbol" panose="05050102010706020507" pitchFamily="2" charset="2"/>
              <a:buChar char=""/>
            </a:pPr>
            <a:r>
              <a:rPr lang="en-US" altLang="zh-CN" sz="14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Where a certain user has been to during a period of time. </a:t>
            </a:r>
            <a:endParaRPr lang="zh-CN" altLang="zh-CN" sz="14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50305040509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319972" y="2774412"/>
            <a:ext cx="442798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/>
              <a:t>Represent a map including where the user is and his / her surrounding landmarks.</a:t>
            </a:r>
            <a:endParaRPr lang="zh-CN" altLang="en-US" sz="1000" dirty="0"/>
          </a:p>
        </p:txBody>
      </p:sp>
      <p:sp>
        <p:nvSpPr>
          <p:cNvPr id="10" name="矩形 9"/>
          <p:cNvSpPr/>
          <p:nvPr/>
        </p:nvSpPr>
        <p:spPr>
          <a:xfrm>
            <a:off x="4319972" y="3516558"/>
            <a:ext cx="39244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1000" dirty="0"/>
              <a:t>Ask the user which period of time the admin is going to look in.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altLang="zh-CN" sz="1000" dirty="0"/>
              <a:t>If the time admin is enquiring is illegal, send admin an error message.</a:t>
            </a:r>
            <a:endParaRPr lang="zh-CN" altLang="zh-CN" sz="10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zh-CN" sz="1000" dirty="0"/>
              <a:t>If there exists such kind of records, show it to admin in a clear way.</a:t>
            </a:r>
            <a:r>
              <a:rPr lang="zh-CN" altLang="zh-CN" sz="1000" dirty="0"/>
              <a:t> </a:t>
            </a:r>
            <a:endParaRPr lang="zh-CN" altLang="en-US" sz="1000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361562"/>
            <a:ext cx="1332148" cy="116563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37"/>
          <p:cNvSpPr txBox="1"/>
          <p:nvPr/>
        </p:nvSpPr>
        <p:spPr>
          <a:xfrm>
            <a:off x="467543" y="361562"/>
            <a:ext cx="5184577" cy="315475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lvl="0"/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Requirement Analysis-Internal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(WI-FI Fingerprint)</a:t>
            </a:r>
            <a:endParaRPr lang="zh-CN" altLang="zh-CN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Box 5"/>
          <p:cNvSpPr txBox="1"/>
          <p:nvPr/>
        </p:nvSpPr>
        <p:spPr>
          <a:xfrm>
            <a:off x="467544" y="627966"/>
            <a:ext cx="2537826" cy="2616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Mar.26 – Apr. 9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361562"/>
            <a:ext cx="1332148" cy="116563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467543" y="979552"/>
            <a:ext cx="582374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zh-CN" sz="1400" spc="-30" dirty="0">
                <a:solidFill>
                  <a:srgbClr val="111111"/>
                </a:solidFill>
                <a:latin typeface="Times New Roman" panose="02020503050405090304" pitchFamily="18" charset="0"/>
              </a:rPr>
              <a:t>Modules which are related to </a:t>
            </a:r>
            <a:r>
              <a:rPr lang="en-GB" altLang="zh-CN" sz="1400" i="1" spc="-30" dirty="0">
                <a:solidFill>
                  <a:srgbClr val="111111"/>
                </a:solidFill>
                <a:latin typeface="Times New Roman" panose="02020503050405090304" pitchFamily="18" charset="0"/>
              </a:rPr>
              <a:t>Wi-Fi Fingerprint</a:t>
            </a:r>
            <a:r>
              <a:rPr lang="en-GB" altLang="zh-CN" sz="1400" spc="-30" dirty="0">
                <a:solidFill>
                  <a:srgbClr val="111111"/>
                </a:solidFill>
                <a:latin typeface="Times New Roman" panose="02020503050405090304" pitchFamily="18" charset="0"/>
              </a:rPr>
              <a:t> and the relationship between them.</a:t>
            </a:r>
            <a:endParaRPr lang="en-GB" altLang="zh-CN" sz="1400" b="0" i="0" u="none" strike="noStrike" dirty="0">
              <a:solidFill>
                <a:srgbClr val="000000"/>
              </a:solidFill>
              <a:effectLst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60" y="1379220"/>
            <a:ext cx="6623050" cy="345821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37"/>
          <p:cNvSpPr txBox="1"/>
          <p:nvPr/>
        </p:nvSpPr>
        <p:spPr>
          <a:xfrm>
            <a:off x="467543" y="361562"/>
            <a:ext cx="5184577" cy="315475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lvl="0"/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Requirement Analysis-Internal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(WI-FI Fingerprint)</a:t>
            </a:r>
            <a:endParaRPr lang="zh-CN" altLang="zh-CN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Box 5"/>
          <p:cNvSpPr txBox="1"/>
          <p:nvPr/>
        </p:nvSpPr>
        <p:spPr>
          <a:xfrm>
            <a:off x="467544" y="627966"/>
            <a:ext cx="2537826" cy="2616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Mar.26 – Apr. 9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361562"/>
            <a:ext cx="1332148" cy="116563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375304" y="1196194"/>
            <a:ext cx="7077016" cy="1076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zh-CN" sz="1600" b="1" spc="-30" dirty="0">
                <a:solidFill>
                  <a:srgbClr val="111111"/>
                </a:solidFill>
                <a:latin typeface="Times New Roman" panose="02020503050405090304" pitchFamily="18" charset="0"/>
              </a:rPr>
              <a:t>Interact with two modules</a:t>
            </a:r>
          </a:p>
          <a:p>
            <a:endParaRPr lang="en-GB" altLang="zh-CN" sz="1600" dirty="0">
              <a:solidFill>
                <a:srgbClr val="000000"/>
              </a:solidFill>
            </a:endParaRPr>
          </a:p>
          <a:p>
            <a:pPr marL="285750" indent="-285750" fontAlgn="base">
              <a:buFont typeface="Wingdings" panose="05000000000000000000" charset="0"/>
              <a:buChar char=""/>
            </a:pPr>
            <a:r>
              <a:rPr lang="en-GB" altLang="zh-CN" sz="1600" spc="-30" dirty="0">
                <a:solidFill>
                  <a:srgbClr val="111111"/>
                </a:solidFill>
                <a:latin typeface="Times New Roman" panose="02020503050405090304" pitchFamily="18" charset="0"/>
              </a:rPr>
              <a:t>Provide an interface for </a:t>
            </a:r>
            <a:r>
              <a:rPr lang="en-GB" altLang="zh-CN" sz="1600" i="1" spc="-30" dirty="0">
                <a:solidFill>
                  <a:srgbClr val="111111"/>
                </a:solidFill>
                <a:latin typeface="Times New Roman" panose="02020503050405090304" pitchFamily="18" charset="0"/>
              </a:rPr>
              <a:t>Module Client</a:t>
            </a:r>
            <a:r>
              <a:rPr lang="en-GB" altLang="zh-CN" sz="1600" spc="-30" dirty="0">
                <a:solidFill>
                  <a:srgbClr val="111111"/>
                </a:solidFill>
                <a:latin typeface="Times New Roman" panose="02020503050405090304" pitchFamily="18" charset="0"/>
              </a:rPr>
              <a:t>. </a:t>
            </a:r>
          </a:p>
          <a:p>
            <a:pPr marL="285750" indent="-285750" fontAlgn="base">
              <a:buFont typeface="Wingdings" panose="05000000000000000000" charset="0"/>
              <a:buChar char=""/>
            </a:pPr>
            <a:r>
              <a:rPr lang="en-GB" altLang="zh-CN" sz="1600" spc="-30" dirty="0">
                <a:solidFill>
                  <a:srgbClr val="111111"/>
                </a:solidFill>
                <a:latin typeface="Times New Roman" panose="02020503050405090304" pitchFamily="18" charset="0"/>
              </a:rPr>
              <a:t>Provide an interface for </a:t>
            </a:r>
            <a:r>
              <a:rPr lang="en-GB" altLang="zh-CN" sz="1600" i="1" spc="-30" dirty="0">
                <a:solidFill>
                  <a:srgbClr val="111111"/>
                </a:solidFill>
                <a:latin typeface="Times New Roman" panose="02020503050405090304" pitchFamily="18" charset="0"/>
              </a:rPr>
              <a:t>Module Server</a:t>
            </a:r>
            <a:r>
              <a:rPr lang="en-GB" altLang="zh-CN" sz="1600" spc="-30" dirty="0">
                <a:solidFill>
                  <a:srgbClr val="111111"/>
                </a:solidFill>
                <a:latin typeface="Times New Roman" panose="02020503050405090304" pitchFamily="18" charset="0"/>
              </a:rPr>
              <a:t>.</a:t>
            </a:r>
            <a:r>
              <a:rPr lang="en-GB" altLang="zh-CN" sz="1600" i="1" spc="-30" dirty="0">
                <a:solidFill>
                  <a:srgbClr val="111111"/>
                </a:solidFill>
                <a:latin typeface="Times New Roman" panose="02020503050405090304" pitchFamily="18" charset="0"/>
              </a:rPr>
              <a:t> </a:t>
            </a:r>
            <a:endParaRPr lang="en-GB" altLang="zh-CN" sz="1600" spc="-30" dirty="0">
              <a:solidFill>
                <a:srgbClr val="111111"/>
              </a:solidFill>
              <a:latin typeface="Times New Roman" panose="02020503050405090304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87045" y="2792730"/>
          <a:ext cx="7175500" cy="16891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55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0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721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Provide for</a:t>
                      </a: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Trigger</a:t>
                      </a:r>
                    </a:p>
                  </a:txBody>
                  <a:tcPr marL="38100" marR="38100" marT="38100" marB="2857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67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Server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en-GB" sz="1800" spc="-30" dirty="0">
                          <a:solidFill>
                            <a:srgbClr val="111111"/>
                          </a:solidFill>
                          <a:latin typeface="Times New Roman" panose="02020503050405090304" pitchFamily="18" charset="0"/>
                          <a:sym typeface="+mn-ea"/>
                        </a:rPr>
                        <a:t>A </a:t>
                      </a:r>
                      <a:r>
                        <a:rPr lang="en-GB" altLang="zh-CN" sz="1800" spc="-30" dirty="0">
                          <a:solidFill>
                            <a:srgbClr val="111111"/>
                          </a:solidFill>
                          <a:latin typeface="Times New Roman" panose="02020503050405090304" pitchFamily="18" charset="0"/>
                          <a:sym typeface="+mn-ea"/>
                        </a:rPr>
                        <a:t>user position requirement is activated</a:t>
                      </a:r>
                      <a:endParaRPr lang="en-GB" altLang="zh-CN" sz="1800" spc="-30" dirty="0">
                        <a:solidFill>
                          <a:srgbClr val="111111"/>
                        </a:solidFill>
                        <a:latin typeface="Times New Roman" panose="02020503050405090304" pitchFamily="18" charset="0"/>
                      </a:endParaRPr>
                    </a:p>
                  </a:txBody>
                  <a:tcPr marL="38100" marR="38100" marT="38100" marB="285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21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Client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en-GB" sz="1800" spc="-30" dirty="0">
                          <a:solidFill>
                            <a:srgbClr val="111111"/>
                          </a:solidFill>
                          <a:latin typeface="Times New Roman" panose="02020503050405090304" pitchFamily="18" charset="0"/>
                          <a:sym typeface="+mn-ea"/>
                        </a:rPr>
                        <a:t>T</a:t>
                      </a:r>
                      <a:r>
                        <a:rPr lang="en-GB" altLang="zh-CN" sz="1800" spc="-30" dirty="0">
                          <a:solidFill>
                            <a:srgbClr val="111111"/>
                          </a:solidFill>
                          <a:latin typeface="Times New Roman" panose="02020503050405090304" pitchFamily="18" charset="0"/>
                          <a:sym typeface="+mn-ea"/>
                        </a:rPr>
                        <a:t>he admin requires the current Wi-Fi Fingerprint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285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37"/>
          <p:cNvSpPr txBox="1"/>
          <p:nvPr/>
        </p:nvSpPr>
        <p:spPr>
          <a:xfrm>
            <a:off x="467543" y="361562"/>
            <a:ext cx="5184577" cy="315475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lvl="0"/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Requirement Analysis-Internal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(WI-FI Fingerprint)</a:t>
            </a:r>
            <a:endParaRPr lang="zh-CN" altLang="zh-CN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Box 5"/>
          <p:cNvSpPr txBox="1"/>
          <p:nvPr/>
        </p:nvSpPr>
        <p:spPr>
          <a:xfrm>
            <a:off x="467544" y="627966"/>
            <a:ext cx="2537826" cy="2616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Mar.26 – Apr. 9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361562"/>
            <a:ext cx="1332148" cy="116563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375304" y="1527029"/>
            <a:ext cx="7077016" cy="2061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zh-CN" sz="1600" b="1" spc="-30" dirty="0">
                <a:solidFill>
                  <a:srgbClr val="111111"/>
                </a:solidFill>
                <a:latin typeface="Times New Roman" panose="02020503050405090304" pitchFamily="18" charset="0"/>
              </a:rPr>
              <a:t>Aims of Module Wi-Fi Fingerprint are as follows:</a:t>
            </a:r>
            <a:endParaRPr lang="en-GB" altLang="zh-CN" sz="1600" dirty="0">
              <a:solidFill>
                <a:srgbClr val="000000"/>
              </a:solidFill>
            </a:endParaRPr>
          </a:p>
          <a:p>
            <a:pPr fontAlgn="base">
              <a:buFont typeface="+mj-lt"/>
              <a:buAutoNum type="arabicPeriod"/>
            </a:pPr>
            <a:endParaRPr lang="en-GB" altLang="zh-CN" sz="1600" spc="-30" dirty="0">
              <a:solidFill>
                <a:srgbClr val="111111"/>
              </a:solidFill>
              <a:latin typeface="Times New Roman" panose="02020503050405090304" pitchFamily="18" charset="0"/>
            </a:endParaRPr>
          </a:p>
          <a:p>
            <a:pPr fontAlgn="base">
              <a:buFont typeface="+mj-lt"/>
              <a:buAutoNum type="arabicPeriod"/>
            </a:pPr>
            <a:r>
              <a:rPr lang="en-GB" altLang="zh-CN" sz="1600" spc="-30" dirty="0">
                <a:solidFill>
                  <a:srgbClr val="111111"/>
                </a:solidFill>
                <a:latin typeface="Times New Roman" panose="02020503050405090304" pitchFamily="18" charset="0"/>
              </a:rPr>
              <a:t>Provide an interface for </a:t>
            </a:r>
            <a:r>
              <a:rPr lang="en-GB" altLang="zh-CN" sz="1600" i="1" spc="-30" dirty="0">
                <a:solidFill>
                  <a:srgbClr val="111111"/>
                </a:solidFill>
                <a:latin typeface="Times New Roman" panose="02020503050405090304" pitchFamily="18" charset="0"/>
              </a:rPr>
              <a:t>Module Client</a:t>
            </a:r>
            <a:r>
              <a:rPr lang="en-GB" altLang="zh-CN" sz="1600" spc="-30" dirty="0">
                <a:solidFill>
                  <a:srgbClr val="111111"/>
                </a:solidFill>
                <a:latin typeface="Times New Roman" panose="02020503050405090304" pitchFamily="18" charset="0"/>
              </a:rPr>
              <a:t>. Whenever a user position </a:t>
            </a:r>
            <a:r>
              <a:rPr lang="en-GB" altLang="zh-CN" sz="1600" spc="-30" dirty="0">
                <a:solidFill>
                  <a:srgbClr val="434343"/>
                </a:solidFill>
                <a:latin typeface="Times New Roman" panose="02020503050405090304" pitchFamily="18" charset="0"/>
              </a:rPr>
              <a:t>r</a:t>
            </a:r>
            <a:r>
              <a:rPr lang="en-GB" altLang="zh-CN" sz="1600" dirty="0">
                <a:solidFill>
                  <a:srgbClr val="434343"/>
                </a:solidFill>
                <a:latin typeface="Times New Roman" panose="02020503050405090304" pitchFamily="18" charset="0"/>
              </a:rPr>
              <a:t>equirement is activated, get Wi-Fi Fingerprint </a:t>
            </a:r>
            <a:r>
              <a:rPr lang="en-GB" altLang="zh-CN" sz="1600" dirty="0" err="1">
                <a:solidFill>
                  <a:srgbClr val="434343"/>
                </a:solidFill>
                <a:latin typeface="Times New Roman" panose="02020503050405090304" pitchFamily="18" charset="0"/>
              </a:rPr>
              <a:t>info</a:t>
            </a:r>
            <a:r>
              <a:rPr lang="en-US" altLang="en-GB" sz="1600" dirty="0" err="1">
                <a:solidFill>
                  <a:srgbClr val="434343"/>
                </a:solidFill>
                <a:latin typeface="Times New Roman" panose="02020503050405090304" pitchFamily="18" charset="0"/>
              </a:rPr>
              <a:t>r</a:t>
            </a:r>
            <a:r>
              <a:rPr lang="en-GB" altLang="zh-CN" sz="1600" dirty="0" err="1">
                <a:solidFill>
                  <a:srgbClr val="434343"/>
                </a:solidFill>
                <a:latin typeface="Times New Roman" panose="02020503050405090304" pitchFamily="18" charset="0"/>
              </a:rPr>
              <a:t>mation</a:t>
            </a:r>
            <a:r>
              <a:rPr lang="en-GB" altLang="zh-CN" sz="1600" dirty="0">
                <a:solidFill>
                  <a:srgbClr val="434343"/>
                </a:solidFill>
                <a:latin typeface="Times New Roman" panose="02020503050405090304" pitchFamily="18" charset="0"/>
              </a:rPr>
              <a:t> and return it, so that </a:t>
            </a:r>
            <a:r>
              <a:rPr lang="en-GB" altLang="zh-CN" sz="1600" i="1" spc="-30" dirty="0">
                <a:solidFill>
                  <a:srgbClr val="111111"/>
                </a:solidFill>
                <a:latin typeface="Times New Roman" panose="02020503050405090304" pitchFamily="18" charset="0"/>
              </a:rPr>
              <a:t>Module Client </a:t>
            </a:r>
            <a:r>
              <a:rPr lang="en-GB" altLang="zh-CN" sz="1600" spc="-30" dirty="0">
                <a:solidFill>
                  <a:srgbClr val="111111"/>
                </a:solidFill>
                <a:latin typeface="Times New Roman" panose="02020503050405090304" pitchFamily="18" charset="0"/>
              </a:rPr>
              <a:t>will be able to send it to</a:t>
            </a:r>
            <a:r>
              <a:rPr lang="en-GB" altLang="zh-CN" sz="1600" i="1" spc="-30" dirty="0">
                <a:solidFill>
                  <a:srgbClr val="111111"/>
                </a:solidFill>
                <a:latin typeface="Times New Roman" panose="02020503050405090304" pitchFamily="18" charset="0"/>
              </a:rPr>
              <a:t> Module Algorithm.</a:t>
            </a:r>
          </a:p>
          <a:p>
            <a:pPr fontAlgn="base">
              <a:buFont typeface="+mj-lt"/>
              <a:buAutoNum type="arabicPeriod"/>
            </a:pPr>
            <a:endParaRPr lang="en-GB" altLang="zh-CN" sz="1600" spc="-30" dirty="0">
              <a:solidFill>
                <a:srgbClr val="111111"/>
              </a:solidFill>
              <a:latin typeface="Times New Roman" panose="02020503050405090304" pitchFamily="18" charset="0"/>
            </a:endParaRPr>
          </a:p>
          <a:p>
            <a:pPr fontAlgn="base">
              <a:buFont typeface="+mj-lt"/>
              <a:buAutoNum type="arabicPeriod"/>
            </a:pPr>
            <a:r>
              <a:rPr lang="en-GB" altLang="zh-CN" sz="1600" spc="-30" dirty="0">
                <a:solidFill>
                  <a:srgbClr val="111111"/>
                </a:solidFill>
                <a:latin typeface="Times New Roman" panose="02020503050405090304" pitchFamily="18" charset="0"/>
              </a:rPr>
              <a:t>Provide an interface for </a:t>
            </a:r>
            <a:r>
              <a:rPr lang="en-GB" altLang="zh-CN" sz="1600" i="1" spc="-30" dirty="0">
                <a:solidFill>
                  <a:srgbClr val="111111"/>
                </a:solidFill>
                <a:latin typeface="Times New Roman" panose="02020503050405090304" pitchFamily="18" charset="0"/>
              </a:rPr>
              <a:t>Module Server</a:t>
            </a:r>
            <a:r>
              <a:rPr lang="en-GB" altLang="zh-CN" sz="1600" spc="-30" dirty="0">
                <a:solidFill>
                  <a:srgbClr val="111111"/>
                </a:solidFill>
                <a:latin typeface="Times New Roman" panose="02020503050405090304" pitchFamily="18" charset="0"/>
              </a:rPr>
              <a:t>.</a:t>
            </a:r>
            <a:r>
              <a:rPr lang="en-GB" altLang="zh-CN" sz="1600" i="1" spc="-30" dirty="0">
                <a:solidFill>
                  <a:srgbClr val="111111"/>
                </a:solidFill>
                <a:latin typeface="Times New Roman" panose="02020503050405090304" pitchFamily="18" charset="0"/>
              </a:rPr>
              <a:t> </a:t>
            </a:r>
            <a:r>
              <a:rPr lang="en-GB" altLang="zh-CN" sz="1600" spc="-30" dirty="0">
                <a:solidFill>
                  <a:srgbClr val="111111"/>
                </a:solidFill>
                <a:latin typeface="Times New Roman" panose="02020503050405090304" pitchFamily="18" charset="0"/>
              </a:rPr>
              <a:t>Whenever the admin requires the current Wi-Fi Fingerprint, </a:t>
            </a:r>
            <a:r>
              <a:rPr lang="en-GB" altLang="zh-CN" sz="1600" dirty="0">
                <a:solidFill>
                  <a:srgbClr val="434343"/>
                </a:solidFill>
                <a:latin typeface="Times New Roman" panose="02020503050405090304" pitchFamily="18" charset="0"/>
              </a:rPr>
              <a:t>get Wi-Fi Fingerprint </a:t>
            </a:r>
            <a:r>
              <a:rPr lang="en-GB" altLang="zh-CN" sz="1600" dirty="0" err="1">
                <a:solidFill>
                  <a:srgbClr val="434343"/>
                </a:solidFill>
                <a:latin typeface="Times New Roman" panose="02020503050405090304" pitchFamily="18" charset="0"/>
              </a:rPr>
              <a:t>info</a:t>
            </a:r>
            <a:r>
              <a:rPr lang="en-US" altLang="en-GB" sz="1600" dirty="0" err="1">
                <a:solidFill>
                  <a:srgbClr val="434343"/>
                </a:solidFill>
                <a:latin typeface="Times New Roman" panose="02020503050405090304" pitchFamily="18" charset="0"/>
              </a:rPr>
              <a:t>r</a:t>
            </a:r>
            <a:r>
              <a:rPr lang="en-GB" altLang="zh-CN" sz="1600" dirty="0" err="1">
                <a:solidFill>
                  <a:srgbClr val="434343"/>
                </a:solidFill>
                <a:latin typeface="Times New Roman" panose="02020503050405090304" pitchFamily="18" charset="0"/>
              </a:rPr>
              <a:t>mation</a:t>
            </a:r>
            <a:r>
              <a:rPr lang="en-GB" altLang="zh-CN" sz="1600" dirty="0">
                <a:solidFill>
                  <a:srgbClr val="434343"/>
                </a:solidFill>
                <a:latin typeface="Times New Roman" panose="02020503050405090304" pitchFamily="18" charset="0"/>
              </a:rPr>
              <a:t> back to </a:t>
            </a:r>
            <a:r>
              <a:rPr lang="en-GB" altLang="zh-CN" sz="1600" i="1" dirty="0">
                <a:solidFill>
                  <a:srgbClr val="434343"/>
                </a:solidFill>
                <a:latin typeface="Times New Roman" panose="02020503050405090304" pitchFamily="18" charset="0"/>
              </a:rPr>
              <a:t>Module Server</a:t>
            </a:r>
            <a:r>
              <a:rPr lang="en-GB" altLang="zh-CN" sz="1600" dirty="0">
                <a:solidFill>
                  <a:srgbClr val="434343"/>
                </a:solidFill>
                <a:latin typeface="Times New Roman" panose="02020503050405090304" pitchFamily="18" charset="0"/>
              </a:rPr>
              <a:t>.</a:t>
            </a:r>
            <a:endParaRPr lang="en-GB" altLang="zh-CN" sz="1600" spc="-30" dirty="0">
              <a:solidFill>
                <a:srgbClr val="111111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37"/>
          <p:cNvSpPr txBox="1"/>
          <p:nvPr/>
        </p:nvSpPr>
        <p:spPr>
          <a:xfrm>
            <a:off x="467543" y="361562"/>
            <a:ext cx="2379407" cy="315475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lvl="0"/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System Design</a:t>
            </a:r>
            <a:endParaRPr lang="zh-CN" altLang="zh-CN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Box 5"/>
          <p:cNvSpPr txBox="1"/>
          <p:nvPr/>
        </p:nvSpPr>
        <p:spPr>
          <a:xfrm>
            <a:off x="467544" y="627966"/>
            <a:ext cx="2537826" cy="2616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Apr.10 – Apr.23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467542" y="988368"/>
            <a:ext cx="6768753" cy="1886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Content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1</a:t>
            </a:r>
            <a:r>
              <a:rPr lang="zh-CN" altLang="en-US" sz="2000" dirty="0"/>
              <a:t>、</a:t>
            </a:r>
            <a:r>
              <a:rPr lang="en-US" altLang="zh-CN" sz="2000" dirty="0"/>
              <a:t>Software Specification Design (SDS)—WIFI fingerprint part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2</a:t>
            </a:r>
            <a:r>
              <a:rPr lang="zh-CN" altLang="en-US" sz="2000" dirty="0"/>
              <a:t>、</a:t>
            </a:r>
            <a:r>
              <a:rPr lang="en-US" altLang="zh-CN" sz="2000" dirty="0"/>
              <a:t>Interface Specification (IS)—WIFI fingerprint part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3</a:t>
            </a:r>
            <a:r>
              <a:rPr lang="zh-CN" altLang="en-US" sz="2000" dirty="0"/>
              <a:t>、</a:t>
            </a:r>
            <a:r>
              <a:rPr lang="en-US" altLang="zh-CN" sz="2000" dirty="0"/>
              <a:t>Integration of Interface Specification (IS) 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3508648"/>
            <a:ext cx="1332148" cy="116563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39552" y="556320"/>
            <a:ext cx="6228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 Software Specification Design (SDS)—WIFI fingerprint part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47564" y="1276400"/>
            <a:ext cx="24122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1.1 Service Provided</a:t>
            </a:r>
          </a:p>
          <a:p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223628" y="1708448"/>
          <a:ext cx="6876763" cy="295232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33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1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318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Service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Provided By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Tested By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2857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57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Get Current Wi-Fi Fingerprint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current_fingerprint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Client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285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357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Get Connection with Server and send 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send_fingerprint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Server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285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317" y="326794"/>
            <a:ext cx="1332148" cy="1165630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39552" y="556320"/>
            <a:ext cx="6228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 Software Specification Design (SDS)—WIFI fingerprint part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47564" y="1276400"/>
            <a:ext cx="4032448" cy="1676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/>
              <a:t>1.2 Functions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dirty="0" err="1"/>
              <a:t>current_fingerprint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dirty="0" err="1"/>
              <a:t>send_fingerprint</a:t>
            </a: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280" y="3436640"/>
            <a:ext cx="1332148" cy="11656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3508648"/>
            <a:ext cx="1332148" cy="1165630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39552" y="556320"/>
            <a:ext cx="6228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 Software Specification Design (SDS)—WIFI fingerprint part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47564" y="925652"/>
            <a:ext cx="4032448" cy="568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/>
              <a:t>1.2 Functions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187624" y="1494397"/>
          <a:ext cx="6435716" cy="33196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331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9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54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7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796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Function Name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Parameters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Return Value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Called By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2857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26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current_fingerprint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int </a:t>
                      </a:r>
                      <a:r>
                        <a:rPr lang="en-US" sz="1600" kern="0" dirty="0" err="1">
                          <a:effectLst/>
                        </a:rPr>
                        <a:t>areaID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[(MAC, signal strength), (MAC, signal strength), ... ((MAC, signal strength))]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Client(User wants to get current position)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285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903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send_fingerprint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[(MAC, signal strength), (MAC, signal strength), ... ((MAC, signal strength))]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true / false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Server(Admin wants to get current Wi-Fi Fingerprint)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285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328767"/>
            <a:ext cx="1332148" cy="1165630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39552" y="556320"/>
            <a:ext cx="6228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 Software Specification Design (SDS)—WIFI fingerprint part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11560" y="1060376"/>
            <a:ext cx="4032448" cy="1676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/>
              <a:t>1.3 Relations With Other Modules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Server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Client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280" y="3436640"/>
            <a:ext cx="1332148" cy="11656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3508648"/>
            <a:ext cx="1332148" cy="1165630"/>
          </a:xfrm>
          <a:prstGeom prst="rect">
            <a:avLst/>
          </a:prstGeom>
        </p:spPr>
      </p:pic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46973" y="2857238"/>
          <a:ext cx="5148572" cy="16764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74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4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277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Module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Way of Connection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2857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61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Server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Based on WebSocket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285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06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Client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Based on Android Studio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285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Click="0" advTm="3000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39552" y="556320"/>
            <a:ext cx="6228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 Software Specification Design (SDS)—WIFI fingerprint part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39552" y="1132384"/>
            <a:ext cx="4032448" cy="1122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/>
              <a:t>1.4 Service Required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service from server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280" y="3436640"/>
            <a:ext cx="1332148" cy="11656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3508648"/>
            <a:ext cx="1332148" cy="1165630"/>
          </a:xfrm>
          <a:prstGeom prst="rect">
            <a:avLst/>
          </a:prstGeom>
        </p:spPr>
      </p:pic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39552" y="2726103"/>
          <a:ext cx="5471728" cy="14932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34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7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660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Service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Provided By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2857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60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Client needs to provide username and password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 Client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285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Click="0" advTm="3000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39552" y="556320"/>
            <a:ext cx="6228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 Software Specification Design (SDS)—WIFI fingerprint part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46251" y="895803"/>
            <a:ext cx="4032448" cy="568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/>
              <a:t>1.5 Flow chart--global</a:t>
            </a:r>
          </a:p>
        </p:txBody>
      </p:sp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2879812" y="1060376"/>
            <a:ext cx="5724231" cy="389621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884" y="3703616"/>
            <a:ext cx="1332148" cy="1165630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39552" y="556320"/>
            <a:ext cx="6228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 Software Specification Design (SDS)—WIFI fingerprint part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46251" y="895803"/>
            <a:ext cx="4032448" cy="568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/>
              <a:t>1.5 Flow chart—Track Location</a:t>
            </a:r>
          </a:p>
        </p:txBody>
      </p:sp>
      <p:pic>
        <p:nvPicPr>
          <p:cNvPr id="7" name="图片 6"/>
          <p:cNvPicPr/>
          <p:nvPr/>
        </p:nvPicPr>
        <p:blipFill>
          <a:blip r:embed="rId2"/>
          <a:stretch>
            <a:fillRect/>
          </a:stretch>
        </p:blipFill>
        <p:spPr>
          <a:xfrm>
            <a:off x="2087724" y="1464548"/>
            <a:ext cx="6777615" cy="342681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3667050"/>
            <a:ext cx="1332148" cy="1165630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03548" y="412304"/>
            <a:ext cx="6228692" cy="460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2 Interface Specification (IS)—WIFI fingerprint part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55576" y="1024372"/>
            <a:ext cx="44644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2.1 Service Provided (mentioned)</a:t>
            </a:r>
          </a:p>
          <a:p>
            <a:r>
              <a:rPr lang="en-US" altLang="zh-CN" dirty="0"/>
              <a:t>2.2 Access Method (mentioned)</a:t>
            </a:r>
          </a:p>
          <a:p>
            <a:r>
              <a:rPr lang="en-US" altLang="zh-CN" dirty="0"/>
              <a:t>2.3 Access Method Effect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827584" y="1996480"/>
          <a:ext cx="7704856" cy="2599978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174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5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630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Access</a:t>
                      </a:r>
                      <a:br>
                        <a:rPr lang="en-US" sz="1600">
                          <a:effectLst/>
                        </a:rPr>
                      </a:br>
                      <a:r>
                        <a:rPr lang="en-US" sz="1600">
                          <a:effectLst/>
                        </a:rPr>
                        <a:t>Method</a:t>
                      </a:r>
                      <a:endParaRPr lang="zh-CN" sz="1600">
                        <a:effectLst/>
                        <a:latin typeface="Times New Roman" panose="0202050305040509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Description</a:t>
                      </a:r>
                      <a:endParaRPr lang="zh-CN" sz="1600">
                        <a:effectLst/>
                        <a:latin typeface="Times New Roman" panose="0202050305040509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44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currentFingerprint</a:t>
                      </a:r>
                      <a:endParaRPr lang="zh-CN" sz="1600">
                        <a:effectLst/>
                        <a:latin typeface="Times New Roman" panose="0202050305040509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When the user wants to know his / her current position, he / she will operate on client. Then the client will call the method to get the current Wi-Fi fingerprint for positioning.</a:t>
                      </a:r>
                      <a:endParaRPr lang="zh-CN" sz="1600">
                        <a:effectLst/>
                        <a:latin typeface="Times New Roman" panose="0202050305040509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924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sendFingerprint</a:t>
                      </a:r>
                      <a:endParaRPr lang="zh-CN" sz="1600">
                        <a:effectLst/>
                        <a:latin typeface="Times New Roman" panose="0202050305040509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When the admin wants to get all the users’ current Wi-Fi information, he / she will operate on web for administration. Server will send us a signal when the admin starts to search for Wi-Fi information, then we will use this method to upload the current Wi-Fi fingerprint.</a:t>
                      </a:r>
                      <a:endParaRPr lang="zh-CN" sz="1600" dirty="0">
                        <a:effectLst/>
                        <a:latin typeface="Times New Roman" panose="0202050305040509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289871"/>
            <a:ext cx="1332148" cy="1165630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7544" y="376300"/>
            <a:ext cx="5310336" cy="464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2 Interface Specification (IS)—WIFI fingerprint part</a:t>
            </a:r>
          </a:p>
        </p:txBody>
      </p:sp>
      <p:sp>
        <p:nvSpPr>
          <p:cNvPr id="3" name="矩形 2"/>
          <p:cNvSpPr/>
          <p:nvPr/>
        </p:nvSpPr>
        <p:spPr>
          <a:xfrm>
            <a:off x="575556" y="91636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2.4 Service Required (mentioned)</a:t>
            </a:r>
          </a:p>
          <a:p>
            <a:r>
              <a:rPr lang="en-US" altLang="zh-CN" dirty="0"/>
              <a:t>2.5 </a:t>
            </a:r>
            <a:r>
              <a:rPr lang="x-none" altLang="zh-CN" dirty="0"/>
              <a:t>Local Types</a:t>
            </a:r>
            <a:endParaRPr lang="zh-CN" altLang="zh-CN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47564" y="1637880"/>
          <a:ext cx="5949838" cy="1172646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2245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4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0681">
                <a:tc>
                  <a:txBody>
                    <a:bodyPr/>
                    <a:lstStyle/>
                    <a:p>
                      <a:pPr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1800">
                          <a:effectLst/>
                        </a:rPr>
                        <a:t>Type</a:t>
                      </a:r>
                      <a:endParaRPr lang="zh-CN" sz="1800">
                        <a:effectLst/>
                        <a:latin typeface="Times New Roman" panose="0202050305040509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1800">
                          <a:effectLst/>
                        </a:rPr>
                        <a:t>Value Space</a:t>
                      </a:r>
                      <a:endParaRPr lang="zh-CN" sz="1800">
                        <a:effectLst/>
                        <a:latin typeface="Times New Roman" panose="0202050305040509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1800">
                          <a:effectLst/>
                        </a:rPr>
                        <a:t>Fingerprint</a:t>
                      </a:r>
                      <a:endParaRPr lang="zh-CN" sz="1800">
                        <a:effectLst/>
                        <a:latin typeface="Times New Roman" panose="0202050305040509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A list of (MAC, signal strength) pairs.</a:t>
                      </a:r>
                      <a:endParaRPr lang="zh-CN" sz="1800" dirty="0">
                        <a:effectLst/>
                        <a:latin typeface="Times New Roman" panose="0202050305040509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642535" y="2932584"/>
            <a:ext cx="5918993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dirty="0"/>
              <a:t>2.6 </a:t>
            </a:r>
            <a:r>
              <a:rPr lang="x-none" altLang="zh-CN" dirty="0"/>
              <a:t>Interface Design Issues</a:t>
            </a:r>
            <a:endParaRPr lang="zh-CN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/>
              <a:t>Which language will be used to get the Wi-Fi information?</a:t>
            </a:r>
            <a:endParaRPr lang="zh-CN" altLang="zh-CN" dirty="0"/>
          </a:p>
          <a:p>
            <a:r>
              <a:rPr lang="en-US" altLang="zh-CN" dirty="0"/>
              <a:t>Solution: Java.</a:t>
            </a:r>
            <a:endParaRPr lang="zh-CN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/>
              <a:t> How can we connect with module Server?</a:t>
            </a:r>
            <a:endParaRPr lang="zh-CN" altLang="zh-CN" dirty="0"/>
          </a:p>
          <a:p>
            <a:r>
              <a:rPr lang="en-US" altLang="zh-CN" dirty="0"/>
              <a:t>Solution: </a:t>
            </a:r>
            <a:r>
              <a:rPr lang="en-US" altLang="zh-CN" dirty="0" err="1"/>
              <a:t>Websocket</a:t>
            </a:r>
            <a:r>
              <a:rPr lang="en-US" altLang="zh-CN" dirty="0"/>
              <a:t>.</a:t>
            </a:r>
            <a:endParaRPr lang="zh-CN" altLang="zh-CN" dirty="0"/>
          </a:p>
          <a:p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358531"/>
            <a:ext cx="1332148" cy="1165630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7544" y="412304"/>
            <a:ext cx="4986300" cy="464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2 Interface Specification (IS)—WIFI fingerprint part</a:t>
            </a:r>
          </a:p>
        </p:txBody>
      </p:sp>
      <p:sp>
        <p:nvSpPr>
          <p:cNvPr id="3" name="矩形 2"/>
          <p:cNvSpPr/>
          <p:nvPr/>
        </p:nvSpPr>
        <p:spPr>
          <a:xfrm>
            <a:off x="467544" y="894897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2.7 Test Cases</a:t>
            </a:r>
            <a:endParaRPr lang="zh-CN" altLang="zh-CN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043608" y="1506991"/>
          <a:ext cx="7272809" cy="2438400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561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9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7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17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7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945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Step</a:t>
                      </a:r>
                      <a:endParaRPr lang="zh-CN" sz="1600">
                        <a:effectLst/>
                        <a:latin typeface="Times New Roman" panose="0202050305040509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Description</a:t>
                      </a:r>
                      <a:endParaRPr lang="zh-CN" sz="1600">
                        <a:effectLst/>
                        <a:latin typeface="Times New Roman" panose="0202050305040509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Input Type/Value</a:t>
                      </a:r>
                      <a:endParaRPr lang="zh-CN" sz="1600">
                        <a:effectLst/>
                        <a:latin typeface="Times New Roman" panose="0202050305040509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Expected Results</a:t>
                      </a:r>
                      <a:endParaRPr lang="zh-CN" sz="1600">
                        <a:effectLst/>
                        <a:latin typeface="Times New Roman" panose="0202050305040509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Service</a:t>
                      </a:r>
                      <a:endParaRPr lang="zh-CN" sz="1600">
                        <a:effectLst/>
                        <a:latin typeface="Times New Roman" panose="0202050305040509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Preamble</a:t>
                      </a:r>
                      <a:endParaRPr lang="zh-CN" sz="1600" dirty="0">
                        <a:effectLst/>
                        <a:latin typeface="Times New Roman" panose="0202050305040509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83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zh-CN" sz="1600">
                        <a:effectLst/>
                        <a:latin typeface="Times New Roman" panose="0202050305040509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To get the current Wi-Fi fingerprint</a:t>
                      </a:r>
                      <a:endParaRPr lang="zh-CN" sz="1600" dirty="0">
                        <a:effectLst/>
                        <a:latin typeface="Times New Roman" panose="0202050305040509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void</a:t>
                      </a:r>
                      <a:endParaRPr lang="zh-CN" sz="1600" dirty="0">
                        <a:effectLst/>
                        <a:latin typeface="Times New Roman" panose="0202050305040509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 list of Wi-Fi fingerprint information, such as: [(MAC, signal strength), (MAC, signal strength), ... ((MAC, signal strength))]</a:t>
                      </a:r>
                      <a:endParaRPr lang="zh-CN" sz="1600" dirty="0">
                        <a:effectLst/>
                        <a:latin typeface="Times New Roman" panose="0202050305040509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Java</a:t>
                      </a:r>
                      <a:endParaRPr lang="zh-CN" sz="1600" dirty="0">
                        <a:effectLst/>
                        <a:latin typeface="Times New Roman" panose="0202050305040509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</a:t>
                      </a:r>
                      <a:endParaRPr lang="zh-CN" sz="1600" dirty="0">
                        <a:effectLst/>
                        <a:latin typeface="Times New Roman" panose="0202050305040509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8324" y="312082"/>
            <a:ext cx="1332148" cy="1165630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332" y="3724672"/>
            <a:ext cx="1332148" cy="116563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67544" y="304292"/>
            <a:ext cx="5058308" cy="464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2 Interface Specification (IS)—WIFI fingerprint part</a:t>
            </a:r>
          </a:p>
        </p:txBody>
      </p:sp>
      <p:sp>
        <p:nvSpPr>
          <p:cNvPr id="3" name="矩形 2"/>
          <p:cNvSpPr/>
          <p:nvPr/>
        </p:nvSpPr>
        <p:spPr>
          <a:xfrm>
            <a:off x="467544" y="844352"/>
            <a:ext cx="14824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2.7 Test Cases</a:t>
            </a:r>
            <a:endParaRPr lang="zh-CN" altLang="zh-CN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55576" y="1384412"/>
          <a:ext cx="7308812" cy="2682240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564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6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2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69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58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2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785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Step</a:t>
                      </a:r>
                      <a:endParaRPr lang="zh-CN" sz="1600">
                        <a:effectLst/>
                        <a:latin typeface="Times New Roman" panose="0202050305040509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Description</a:t>
                      </a:r>
                      <a:endParaRPr lang="zh-CN" sz="1600">
                        <a:effectLst/>
                        <a:latin typeface="Times New Roman" panose="0202050305040509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Input Type/Value</a:t>
                      </a:r>
                      <a:endParaRPr lang="zh-CN" sz="1600">
                        <a:effectLst/>
                        <a:latin typeface="Times New Roman" panose="0202050305040509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Expected Results</a:t>
                      </a:r>
                      <a:endParaRPr lang="zh-CN" sz="1600">
                        <a:effectLst/>
                        <a:latin typeface="Times New Roman" panose="0202050305040509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Service</a:t>
                      </a:r>
                      <a:endParaRPr lang="zh-CN" sz="1600">
                        <a:effectLst/>
                        <a:latin typeface="Times New Roman" panose="0202050305040509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Preamble</a:t>
                      </a:r>
                      <a:endParaRPr lang="zh-CN" sz="1600">
                        <a:effectLst/>
                        <a:latin typeface="Times New Roman" panose="0202050305040509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796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</a:t>
                      </a:r>
                      <a:endParaRPr lang="zh-CN" sz="1600" dirty="0">
                        <a:effectLst/>
                        <a:latin typeface="Times New Roman" panose="0202050305040509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To upload the current Wi-Fi fingerprint to server</a:t>
                      </a:r>
                      <a:endParaRPr lang="zh-CN" sz="1600">
                        <a:effectLst/>
                        <a:latin typeface="Times New Roman" panose="0202050305040509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 list of Wi-Fi fingerprint information / [(MAC, signal strength), (MAC, signal strength), ... ((MAC, signal strength))]</a:t>
                      </a:r>
                      <a:endParaRPr lang="zh-CN" sz="1600" dirty="0">
                        <a:effectLst/>
                        <a:latin typeface="Times New Roman" panose="0202050305040509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True / False represents the result of uploading.</a:t>
                      </a:r>
                      <a:endParaRPr lang="zh-CN" sz="1600" dirty="0">
                        <a:effectLst/>
                        <a:latin typeface="Times New Roman" panose="0202050305040509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Java</a:t>
                      </a:r>
                      <a:endParaRPr lang="zh-CN" sz="1600">
                        <a:effectLst/>
                        <a:latin typeface="Times New Roman" panose="0202050305040509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</a:t>
                      </a:r>
                      <a:endParaRPr lang="zh-CN" sz="1600" dirty="0">
                        <a:effectLst/>
                        <a:latin typeface="Times New Roman" panose="0202050305040509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Click="0" advTm="3000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37"/>
          <p:cNvSpPr txBox="1"/>
          <p:nvPr/>
        </p:nvSpPr>
        <p:spPr>
          <a:xfrm>
            <a:off x="467543" y="361562"/>
            <a:ext cx="2379407" cy="315475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lvl="0"/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Coding</a:t>
            </a:r>
          </a:p>
        </p:txBody>
      </p:sp>
      <p:sp>
        <p:nvSpPr>
          <p:cNvPr id="24" name="TextBox 5"/>
          <p:cNvSpPr txBox="1"/>
          <p:nvPr/>
        </p:nvSpPr>
        <p:spPr>
          <a:xfrm>
            <a:off x="467544" y="627966"/>
            <a:ext cx="2537826" cy="43088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Apr.24 – May.7</a:t>
            </a:r>
          </a:p>
          <a:p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63588" y="1334840"/>
            <a:ext cx="7416824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000" b="1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According to System Design, coding includes 2 parts:</a:t>
            </a:r>
          </a:p>
          <a:p>
            <a:pPr marL="342900" indent="-342900">
              <a:spcAft>
                <a:spcPts val="0"/>
              </a:spcAft>
              <a:buFont typeface="Arial" panose="020B0604020202090204" pitchFamily="34" charset="0"/>
              <a:buChar char="•"/>
            </a:pPr>
            <a:endParaRPr lang="en-US" altLang="zh-CN" sz="1400" b="1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503050405090304" pitchFamily="18" charset="0"/>
            </a:endParaRPr>
          </a:p>
          <a:p>
            <a:pPr marL="342900" indent="-342900">
              <a:spcAft>
                <a:spcPts val="0"/>
              </a:spcAft>
              <a:buFont typeface="Arial" panose="020B0604020202090204" pitchFamily="34" charset="0"/>
              <a:buChar char="•"/>
            </a:pPr>
            <a:endParaRPr lang="en-US" altLang="zh-CN" sz="1400" b="1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503050405090304" pitchFamily="18" charset="0"/>
            </a:endParaRPr>
          </a:p>
          <a:p>
            <a:pPr marL="342900" indent="-342900">
              <a:spcAft>
                <a:spcPts val="0"/>
              </a:spcAft>
              <a:buFont typeface="Arial" panose="020B0604020202090204" pitchFamily="34" charset="0"/>
              <a:buChar char="•"/>
            </a:pPr>
            <a:endParaRPr lang="en-US" altLang="zh-CN" sz="1400" b="1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503050405090304" pitchFamily="18" charset="0"/>
            </a:endParaRPr>
          </a:p>
          <a:p>
            <a:pPr marL="342900" indent="-342900"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zh-CN" sz="1400" b="1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Local fetching of Wi-Fi fingerprint</a:t>
            </a:r>
          </a:p>
          <a:p>
            <a:pPr marL="342900" indent="-342900">
              <a:spcAft>
                <a:spcPts val="0"/>
              </a:spcAft>
              <a:buFont typeface="Arial" panose="020B0604020202090204" pitchFamily="34" charset="0"/>
              <a:buChar char="•"/>
            </a:pPr>
            <a:endParaRPr lang="en-US" altLang="zh-CN" sz="1400" b="1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503050405090304" pitchFamily="18" charset="0"/>
            </a:endParaRPr>
          </a:p>
          <a:p>
            <a:pPr marL="342900" indent="-342900">
              <a:spcAft>
                <a:spcPts val="0"/>
              </a:spcAft>
              <a:buFont typeface="Arial" panose="020B0604020202090204" pitchFamily="34" charset="0"/>
              <a:buChar char="•"/>
            </a:pPr>
            <a:endParaRPr lang="en-US" altLang="zh-CN" sz="1400" b="1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503050405090304" pitchFamily="18" charset="0"/>
            </a:endParaRPr>
          </a:p>
          <a:p>
            <a:pPr marL="342900" indent="-342900">
              <a:spcAft>
                <a:spcPts val="0"/>
              </a:spcAft>
              <a:buFont typeface="Arial" panose="020B0604020202090204" pitchFamily="34" charset="0"/>
              <a:buChar char="•"/>
            </a:pPr>
            <a:endParaRPr lang="en-US" altLang="zh-CN" sz="1400" b="1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503050405090304" pitchFamily="18" charset="0"/>
            </a:endParaRPr>
          </a:p>
          <a:p>
            <a:pPr marL="342900" indent="-342900"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zh-CN" sz="1400" b="1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Upload Wi-Fi fingerprint to server through </a:t>
            </a:r>
            <a:r>
              <a:rPr lang="en-US" altLang="zh-CN" sz="1400" b="1" dirty="0" err="1"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Websocket</a:t>
            </a:r>
            <a:endParaRPr lang="en-US" altLang="zh-CN" sz="1400" b="1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50305040509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3616660"/>
            <a:ext cx="1332148" cy="116563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37"/>
          <p:cNvSpPr txBox="1"/>
          <p:nvPr/>
        </p:nvSpPr>
        <p:spPr>
          <a:xfrm>
            <a:off x="467543" y="361562"/>
            <a:ext cx="2379407" cy="561696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lvl="0"/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Testing</a:t>
            </a:r>
          </a:p>
          <a:p>
            <a:pPr lvl="0"/>
            <a:endParaRPr lang="zh-CN" altLang="zh-CN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Box 5"/>
          <p:cNvSpPr txBox="1"/>
          <p:nvPr/>
        </p:nvSpPr>
        <p:spPr>
          <a:xfrm>
            <a:off x="467544" y="627966"/>
            <a:ext cx="2537826" cy="2616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May.8 - Now</a:t>
            </a:r>
          </a:p>
        </p:txBody>
      </p:sp>
      <p:sp>
        <p:nvSpPr>
          <p:cNvPr id="5" name="矩形 4"/>
          <p:cNvSpPr/>
          <p:nvPr/>
        </p:nvSpPr>
        <p:spPr>
          <a:xfrm>
            <a:off x="647564" y="882010"/>
            <a:ext cx="7416824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000" b="1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Test period includes:</a:t>
            </a:r>
            <a:endParaRPr lang="en-US" altLang="zh-CN" sz="1400" b="1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503050405090304" pitchFamily="18" charset="0"/>
            </a:endParaRPr>
          </a:p>
          <a:p>
            <a:pPr marL="285750" indent="-285750"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zh-CN" sz="14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Unit Testing - ongoing</a:t>
            </a:r>
          </a:p>
          <a:p>
            <a:pPr>
              <a:spcAft>
                <a:spcPts val="0"/>
              </a:spcAft>
            </a:pPr>
            <a:r>
              <a:rPr lang="en-US" altLang="zh-CN" sz="14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Unit testing is a test which is within our module </a:t>
            </a:r>
            <a:r>
              <a:rPr lang="en-US" altLang="zh-CN" sz="1400" i="1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Wi-Fi Fingerprint</a:t>
            </a:r>
            <a:r>
              <a:rPr lang="en-US" altLang="zh-CN" sz="14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. To be more specific,  tester needs to verify that whether internal requirements have been met.</a:t>
            </a: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 sz="14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Can Wi-Fi fingerprint be detected and return correctly?</a:t>
            </a:r>
            <a:endParaRPr lang="en-US" altLang="zh-CN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503050405090304" pitchFamily="18" charset="0"/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 sz="1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If there is no Wi-Fi Fingerprint in the area where the user is, what the program should output?</a:t>
            </a:r>
          </a:p>
          <a:p>
            <a:pPr lvl="1"/>
            <a:endParaRPr lang="en-US" altLang="zh-CN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503050405090304" pitchFamily="18" charset="0"/>
            </a:endParaRPr>
          </a:p>
          <a:p>
            <a:pPr marL="285750" indent="-285750"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zh-CN" sz="1400" b="1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Integration Testing - ongoing</a:t>
            </a:r>
          </a:p>
          <a:p>
            <a:pPr>
              <a:spcAft>
                <a:spcPts val="0"/>
              </a:spcAft>
            </a:pPr>
            <a:r>
              <a:rPr lang="en-US" altLang="zh-CN" sz="14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Integration testing is a test which is between modules. Testers needs to test the interaction with module </a:t>
            </a:r>
            <a:r>
              <a:rPr lang="en-US" altLang="zh-CN" sz="1400" i="1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Client</a:t>
            </a:r>
            <a:r>
              <a:rPr lang="en-US" altLang="zh-CN" sz="14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 and module </a:t>
            </a:r>
            <a:r>
              <a:rPr lang="en-US" altLang="zh-CN" sz="1400" i="1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Server</a:t>
            </a:r>
            <a:r>
              <a:rPr lang="en-US" altLang="zh-CN" sz="14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.</a:t>
            </a: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 sz="14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Can Wi-Fi fingerprint successfully upload to server?</a:t>
            </a: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 sz="14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If there is no Wi-Fi Fingerprint in the area, will a NULL value return to other module leads to any bug?</a:t>
            </a: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14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503050405090304" pitchFamily="18" charset="0"/>
            </a:endParaRPr>
          </a:p>
          <a:p>
            <a:pPr marL="285750" indent="-285750"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zh-CN" sz="14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System Testing</a:t>
            </a:r>
          </a:p>
          <a:p>
            <a:pPr>
              <a:spcAft>
                <a:spcPts val="0"/>
              </a:spcAft>
            </a:pPr>
            <a:r>
              <a:rPr lang="en-US" altLang="zh-CN" sz="14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System Testing is a test which includes all modules.</a:t>
            </a:r>
            <a:endParaRPr lang="zh-CN" altLang="zh-CN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50305040509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8324" y="299195"/>
            <a:ext cx="1332148" cy="116563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37"/>
          <p:cNvSpPr txBox="1"/>
          <p:nvPr/>
        </p:nvSpPr>
        <p:spPr>
          <a:xfrm>
            <a:off x="467543" y="361562"/>
            <a:ext cx="2379407" cy="561696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lvl="0"/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Testing</a:t>
            </a:r>
          </a:p>
          <a:p>
            <a:pPr lvl="0"/>
            <a:endParaRPr lang="zh-CN" altLang="zh-CN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Box 5"/>
          <p:cNvSpPr txBox="1"/>
          <p:nvPr/>
        </p:nvSpPr>
        <p:spPr>
          <a:xfrm>
            <a:off x="467544" y="627966"/>
            <a:ext cx="2537826" cy="2616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May.8 - Now</a:t>
            </a:r>
          </a:p>
        </p:txBody>
      </p:sp>
      <p:sp>
        <p:nvSpPr>
          <p:cNvPr id="5" name="矩形 4"/>
          <p:cNvSpPr/>
          <p:nvPr/>
        </p:nvSpPr>
        <p:spPr>
          <a:xfrm>
            <a:off x="863588" y="1312404"/>
            <a:ext cx="7416824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000" b="1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The framework we use is:</a:t>
            </a:r>
          </a:p>
          <a:p>
            <a:pPr marL="342900" indent="-342900">
              <a:spcAft>
                <a:spcPts val="0"/>
              </a:spcAft>
              <a:buFont typeface="Arial" panose="020B0604020202090204" pitchFamily="34" charset="0"/>
              <a:buChar char="•"/>
            </a:pPr>
            <a:endParaRPr lang="en-US" altLang="zh-CN" sz="1400" b="1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503050405090304" pitchFamily="18" charset="0"/>
            </a:endParaRPr>
          </a:p>
          <a:p>
            <a:pPr marL="342900" indent="-342900">
              <a:spcAft>
                <a:spcPts val="0"/>
              </a:spcAft>
              <a:buFont typeface="Arial" panose="020B0604020202090204" pitchFamily="34" charset="0"/>
              <a:buChar char="•"/>
            </a:pPr>
            <a:endParaRPr lang="en-US" altLang="zh-CN" sz="1400" b="1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503050405090304" pitchFamily="18" charset="0"/>
            </a:endParaRPr>
          </a:p>
          <a:p>
            <a:pPr marL="342900" indent="-342900">
              <a:spcAft>
                <a:spcPts val="0"/>
              </a:spcAft>
              <a:buFont typeface="Arial" panose="020B0604020202090204" pitchFamily="34" charset="0"/>
              <a:buChar char="•"/>
            </a:pPr>
            <a:endParaRPr lang="en-US" altLang="zh-CN" sz="1400" b="1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503050405090304" pitchFamily="18" charset="0"/>
            </a:endParaRPr>
          </a:p>
          <a:p>
            <a:pPr marL="342900" indent="-342900"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zh-CN" sz="14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Mockito</a:t>
            </a:r>
            <a:endParaRPr lang="en-US" altLang="zh-CN" sz="1400" b="1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503050405090304" pitchFamily="18" charset="0"/>
            </a:endParaRPr>
          </a:p>
          <a:p>
            <a:pPr marL="342900" indent="-342900">
              <a:spcAft>
                <a:spcPts val="0"/>
              </a:spcAft>
              <a:buFont typeface="Arial" panose="020B0604020202090204" pitchFamily="34" charset="0"/>
              <a:buChar char="•"/>
            </a:pPr>
            <a:endParaRPr lang="en-US" altLang="zh-CN" sz="1400" b="1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503050405090304" pitchFamily="18" charset="0"/>
            </a:endParaRPr>
          </a:p>
          <a:p>
            <a:pPr marL="342900" indent="-342900">
              <a:spcAft>
                <a:spcPts val="0"/>
              </a:spcAft>
              <a:buFont typeface="Arial" panose="020B0604020202090204" pitchFamily="34" charset="0"/>
              <a:buChar char="•"/>
            </a:pPr>
            <a:endParaRPr lang="en-US" altLang="zh-CN" sz="1400" b="1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503050405090304" pitchFamily="18" charset="0"/>
            </a:endParaRPr>
          </a:p>
          <a:p>
            <a:pPr marL="342900" indent="-342900">
              <a:spcAft>
                <a:spcPts val="0"/>
              </a:spcAft>
              <a:buFont typeface="Arial" panose="020B0604020202090204" pitchFamily="34" charset="0"/>
              <a:buChar char="•"/>
            </a:pPr>
            <a:endParaRPr lang="en-US" altLang="zh-CN" sz="1400" b="1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503050405090304" pitchFamily="18" charset="0"/>
            </a:endParaRPr>
          </a:p>
          <a:p>
            <a:pPr marL="342900" indent="-342900"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zh-CN" sz="1400" b="1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503050405090304" pitchFamily="18" charset="0"/>
              </a:rPr>
              <a:t>JUnit</a:t>
            </a:r>
            <a:endParaRPr lang="en-US" altLang="zh-CN" sz="1400" b="1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50305040509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6316" y="3580656"/>
            <a:ext cx="1332148" cy="116563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5088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503548" y="484312"/>
            <a:ext cx="8172908" cy="4176464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2921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95936" y="1974267"/>
            <a:ext cx="830099" cy="346249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3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14"/>
          <p:cNvGrpSpPr/>
          <p:nvPr/>
        </p:nvGrpSpPr>
        <p:grpSpPr>
          <a:xfrm>
            <a:off x="3059832" y="2356520"/>
            <a:ext cx="2664296" cy="360040"/>
            <a:chOff x="5349226" y="2010956"/>
            <a:chExt cx="4272984" cy="670899"/>
          </a:xfrm>
          <a:solidFill>
            <a:schemeClr val="accent1"/>
          </a:solidFill>
        </p:grpSpPr>
        <p:sp>
          <p:nvSpPr>
            <p:cNvPr id="6" name="燕尾形 18"/>
            <p:cNvSpPr/>
            <p:nvPr/>
          </p:nvSpPr>
          <p:spPr>
            <a:xfrm rot="10800000">
              <a:off x="5349226" y="2010956"/>
              <a:ext cx="4272984" cy="670899"/>
            </a:xfrm>
            <a:prstGeom prst="chevron">
              <a:avLst>
                <a:gd name="adj" fmla="val 67746"/>
              </a:avLst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753427" y="2059649"/>
              <a:ext cx="3740848" cy="5735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lvl="0"/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What we are going to do</a:t>
              </a:r>
              <a:endParaRPr lang="zh-C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37"/>
          <p:cNvSpPr txBox="1"/>
          <p:nvPr/>
        </p:nvSpPr>
        <p:spPr>
          <a:xfrm>
            <a:off x="467543" y="361562"/>
            <a:ext cx="2379407" cy="561696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lvl="0"/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TO-DO</a:t>
            </a:r>
          </a:p>
          <a:p>
            <a:pPr lvl="0"/>
            <a:endParaRPr lang="zh-CN" altLang="zh-CN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37574" y="1543307"/>
            <a:ext cx="76688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1. Upload Wi-Fi fingerprint to server through </a:t>
            </a:r>
            <a:r>
              <a:rPr lang="en-US" altLang="zh-CN" sz="2400" b="1" dirty="0" err="1"/>
              <a:t>Websocket</a:t>
            </a:r>
            <a:r>
              <a:rPr lang="en-US" altLang="zh-CN" sz="2400" b="1" dirty="0"/>
              <a:t> </a:t>
            </a: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Interaction with module </a:t>
            </a:r>
            <a:r>
              <a:rPr lang="en-US" altLang="zh-CN" sz="2000" i="1" dirty="0"/>
              <a:t>Server</a:t>
            </a: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 err="1"/>
              <a:t>java.net.socket</a:t>
            </a:r>
            <a:r>
              <a:rPr lang="en-US" altLang="zh-CN" sz="2000" dirty="0"/>
              <a:t> </a:t>
            </a: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Socket.io</a:t>
            </a: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Compatibility</a:t>
            </a: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Fix it as soon as possible</a:t>
            </a:r>
          </a:p>
          <a:p>
            <a:endParaRPr lang="en-US" altLang="zh-CN" sz="2000" b="1" dirty="0"/>
          </a:p>
          <a:p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389477"/>
            <a:ext cx="1332148" cy="116563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37"/>
          <p:cNvSpPr txBox="1"/>
          <p:nvPr/>
        </p:nvSpPr>
        <p:spPr>
          <a:xfrm>
            <a:off x="467543" y="361562"/>
            <a:ext cx="2379407" cy="561696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lvl="0"/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TO-DO</a:t>
            </a:r>
          </a:p>
          <a:p>
            <a:pPr lvl="0"/>
            <a:endParaRPr lang="zh-CN" altLang="zh-CN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2483" y="1456420"/>
            <a:ext cx="819091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2. Integration Test</a:t>
            </a: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Test between the modules that are relevant to us – Client &amp; Server.</a:t>
            </a: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i="1" dirty="0"/>
              <a:t>Client: </a:t>
            </a:r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en-US" altLang="zh-CN" sz="2000" i="1" dirty="0"/>
              <a:t>The transfer of  username, password</a:t>
            </a:r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en-US" altLang="zh-CN" sz="2000" i="1" dirty="0"/>
              <a:t>Whether client can get the fingerprint offline	</a:t>
            </a: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i="1" dirty="0"/>
              <a:t>Server</a:t>
            </a:r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en-US" altLang="zh-CN" sz="2000" i="1" dirty="0"/>
              <a:t>The upload of fingerprint	</a:t>
            </a:r>
          </a:p>
          <a:p>
            <a:endParaRPr lang="en-US" altLang="zh-CN" sz="2000" b="1" dirty="0"/>
          </a:p>
          <a:p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389477"/>
            <a:ext cx="1332148" cy="1165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614108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37"/>
          <p:cNvSpPr txBox="1"/>
          <p:nvPr/>
        </p:nvSpPr>
        <p:spPr>
          <a:xfrm>
            <a:off x="467543" y="361562"/>
            <a:ext cx="2379407" cy="561696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lvl="0"/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TO-DO</a:t>
            </a:r>
          </a:p>
          <a:p>
            <a:pPr lvl="0"/>
            <a:endParaRPr lang="zh-CN" altLang="zh-CN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91580" y="1060376"/>
            <a:ext cx="7668852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000" b="1" dirty="0"/>
          </a:p>
          <a:p>
            <a:endParaRPr lang="en-US" altLang="zh-CN" dirty="0"/>
          </a:p>
          <a:p>
            <a:r>
              <a:rPr lang="en-US" altLang="zh-CN" sz="2400" b="1" dirty="0"/>
              <a:t>3. Discover errors and things that need improvement on the basis of the original version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SA 2.0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SD 2.0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Coding 2.0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Testing 2.0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389477"/>
            <a:ext cx="1332148" cy="1165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531759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508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503548" y="484312"/>
            <a:ext cx="8172908" cy="41764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921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60565" y="3117721"/>
            <a:ext cx="2730879" cy="2616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Pigeon Farm - Midterm Presentation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2226668" y="3081392"/>
            <a:ext cx="479867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39952" y="3328628"/>
            <a:ext cx="97210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2020.05.26</a:t>
            </a:r>
          </a:p>
          <a:p>
            <a:endParaRPr lang="en-US" altLang="zh-CN" sz="10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92895" y="2363053"/>
            <a:ext cx="5266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 for listening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932" y="1197423"/>
            <a:ext cx="1332148" cy="116563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cf560bd-e3a6-4b61-80cb-3f94242707a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a8070d4-97cf-4f0f-84b5-ef158654734d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3933fe1-f6c6-4172-ab99-9745b77e5131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6fd6243-3ac6-4724-abff-ace2e6ab0459}"/>
</p:tagLst>
</file>

<file path=ppt/theme/theme1.xml><?xml version="1.0" encoding="utf-8"?>
<a:theme xmlns:a="http://schemas.openxmlformats.org/drawingml/2006/main" name="第一PPT，www.1ppt.com">
  <a:themeElements>
    <a:clrScheme name="自定义 123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68A92"/>
      </a:accent1>
      <a:accent2>
        <a:srgbClr val="BFBFBF"/>
      </a:accent2>
      <a:accent3>
        <a:srgbClr val="468A92"/>
      </a:accent3>
      <a:accent4>
        <a:srgbClr val="BFBFBF"/>
      </a:accent4>
      <a:accent5>
        <a:srgbClr val="468A92"/>
      </a:accent5>
      <a:accent6>
        <a:srgbClr val="BFBFBF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1439</Words>
  <Application>Microsoft Office PowerPoint</Application>
  <PresentationFormat>自定义</PresentationFormat>
  <Paragraphs>299</Paragraphs>
  <Slides>32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1" baseType="lpstr">
      <vt:lpstr>宋体</vt:lpstr>
      <vt:lpstr>微软雅黑</vt:lpstr>
      <vt:lpstr>Arial</vt:lpstr>
      <vt:lpstr>Calibri</vt:lpstr>
      <vt:lpstr>Cambria</vt:lpstr>
      <vt:lpstr>Symbol</vt:lpstr>
      <vt:lpstr>Times New Roman</vt:lpstr>
      <vt:lpstr>Wingdings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蓝色简洁述职报告</dc:title>
  <dc:creator>第一PPT</dc:creator>
  <cp:keywords>www.1ppt.com</cp:keywords>
  <dc:description>www.1ppt.com</dc:description>
  <cp:lastModifiedBy>加益 王</cp:lastModifiedBy>
  <cp:revision>63</cp:revision>
  <dcterms:created xsi:type="dcterms:W3CDTF">2020-05-19T06:51:13Z</dcterms:created>
  <dcterms:modified xsi:type="dcterms:W3CDTF">2020-05-19T09:29:56Z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2052-2.2.0.3563</vt:lpwstr>
  </property>
</Properties>
</file>